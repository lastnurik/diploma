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d1a72480f24b95" /><Relationship Type="http://schemas.openxmlformats.org/officeDocument/2006/relationships/extended-properties" Target="/docProps/app.xml" Id="R07d0b894a65947ab" /><Relationship Type="http://schemas.openxmlformats.org/officeDocument/2006/relationships/officeDocument" Target="/ppt/presentation.xml" Id="Ra0d6779cb9d04486" /></Relationships>
</file>

<file path=ppt/presentation.xml><?xml version="1.0" encoding="utf-8"?>
<p:presentation xmlns:p="http://schemas.openxmlformats.org/presentationml/2006/main">
  <p:sldMasterIdLst>
    <p:sldMasterId xmlns:r="http://schemas.openxmlformats.org/officeDocument/2006/relationships" id="2147483648" r:id="R5b8b0938f04a4f30"/>
  </p:sldMasterIdLst>
  <p:notesMasterIdLst>
    <p:notesMasterId xmlns:r="http://schemas.openxmlformats.org/officeDocument/2006/relationships" r:id="Ra551161d1c4c4865"/>
  </p:notesMasterIdLst>
  <p:sldIdLst>
    <p:sldId xmlns:r="http://schemas.openxmlformats.org/officeDocument/2006/relationships" id="256" r:id="R030877d0ea62447a"/>
    <p:sldId xmlns:r="http://schemas.openxmlformats.org/officeDocument/2006/relationships" id="257" r:id="Ra61d9bde70dc4c2b"/>
    <p:sldId xmlns:r="http://schemas.openxmlformats.org/officeDocument/2006/relationships" id="258" r:id="Re865fcce59b9420a"/>
    <p:sldId xmlns:r="http://schemas.openxmlformats.org/officeDocument/2006/relationships" id="259" r:id="R0eb34ff4918f4f5d"/>
    <p:sldId xmlns:r="http://schemas.openxmlformats.org/officeDocument/2006/relationships" id="260" r:id="R518c8879f9644d5b"/>
    <p:sldId xmlns:r="http://schemas.openxmlformats.org/officeDocument/2006/relationships" id="261" r:id="Rceb82dc1bb064e12"/>
    <p:sldId xmlns:r="http://schemas.openxmlformats.org/officeDocument/2006/relationships" id="262" r:id="R804dc4818e004fb9"/>
    <p:sldId xmlns:r="http://schemas.openxmlformats.org/officeDocument/2006/relationships" id="263" r:id="R7b6394a477cc4e4f"/>
    <p:sldId xmlns:r="http://schemas.openxmlformats.org/officeDocument/2006/relationships" id="264" r:id="R009d80a0abc34f2e"/>
    <p:sldId xmlns:r="http://schemas.openxmlformats.org/officeDocument/2006/relationships" id="265" r:id="R11b55d5c90f84d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3ddf5caa11497f" /><Relationship Type="http://schemas.openxmlformats.org/officeDocument/2006/relationships/slideMaster" Target="/ppt/slideMasters/slideMaster1.xml" Id="R5b8b0938f04a4f30" /><Relationship Type="http://schemas.openxmlformats.org/officeDocument/2006/relationships/notesMaster" Target="/ppt/notesMasters/notesMaster1.xml" Id="Ra551161d1c4c4865" /><Relationship Type="http://schemas.openxmlformats.org/officeDocument/2006/relationships/presProps" Target="/ppt/presProps.xml" Id="R65682bf3f8c74ba6" /><Relationship Type="http://schemas.openxmlformats.org/officeDocument/2006/relationships/tableStyles" Target="/ppt/tableStyles.xml" Id="Rc21f56caaa364f61" /><Relationship Type="http://schemas.openxmlformats.org/officeDocument/2006/relationships/slide" Target="/ppt/slides/slide1.xml" Id="R030877d0ea62447a" /><Relationship Type="http://schemas.openxmlformats.org/officeDocument/2006/relationships/slide" Target="/ppt/slides/slide2.xml" Id="Ra61d9bde70dc4c2b" /><Relationship Type="http://schemas.openxmlformats.org/officeDocument/2006/relationships/slide" Target="/ppt/slides/slide3.xml" Id="Re865fcce59b9420a" /><Relationship Type="http://schemas.openxmlformats.org/officeDocument/2006/relationships/slide" Target="/ppt/slides/slide4.xml" Id="R0eb34ff4918f4f5d" /><Relationship Type="http://schemas.openxmlformats.org/officeDocument/2006/relationships/slide" Target="/ppt/slides/slide5.xml" Id="R518c8879f9644d5b" /><Relationship Type="http://schemas.openxmlformats.org/officeDocument/2006/relationships/slide" Target="/ppt/slides/slide6.xml" Id="Rceb82dc1bb064e12" /><Relationship Type="http://schemas.openxmlformats.org/officeDocument/2006/relationships/slide" Target="/ppt/slides/slide7.xml" Id="R804dc4818e004fb9" /><Relationship Type="http://schemas.openxmlformats.org/officeDocument/2006/relationships/slide" Target="/ppt/slides/slide8.xml" Id="R7b6394a477cc4e4f" /><Relationship Type="http://schemas.openxmlformats.org/officeDocument/2006/relationships/slide" Target="/ppt/slides/slide9.xml" Id="R009d80a0abc34f2e" /><Relationship Type="http://schemas.openxmlformats.org/officeDocument/2006/relationships/slide" Target="/ppt/slides/slide10.xml" Id="R11b55d5c90f84d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2603dcd13644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6673eb92554c11" /><Relationship Type="http://schemas.openxmlformats.org/officeDocument/2006/relationships/notesMaster" Target="/ppt/notesMasters/notesMaster1.xml" Id="Rfe3f2848dd9149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801c7d9a20419c" /><Relationship Type="http://schemas.openxmlformats.org/officeDocument/2006/relationships/notesMaster" Target="/ppt/notesMasters/notesMaster1.xml" Id="R6165e0814d7d4f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9d3e6f598e4ade" /><Relationship Type="http://schemas.openxmlformats.org/officeDocument/2006/relationships/notesMaster" Target="/ppt/notesMasters/notesMaster1.xml" Id="R35c717e4a2f549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8d52065762406d" /><Relationship Type="http://schemas.openxmlformats.org/officeDocument/2006/relationships/notesMaster" Target="/ppt/notesMasters/notesMaster1.xml" Id="R0b684f54b6d44a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827e051b954692" /><Relationship Type="http://schemas.openxmlformats.org/officeDocument/2006/relationships/notesMaster" Target="/ppt/notesMasters/notesMaster1.xml" Id="Rc8bc47febadf4c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880cac67b6432c" /><Relationship Type="http://schemas.openxmlformats.org/officeDocument/2006/relationships/notesMaster" Target="/ppt/notesMasters/notesMaster1.xml" Id="R801a7be1bb604f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42aebe1b814048" /><Relationship Type="http://schemas.openxmlformats.org/officeDocument/2006/relationships/notesMaster" Target="/ppt/notesMasters/notesMaster1.xml" Id="R784acb356d5b43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4a652811c0459f" /><Relationship Type="http://schemas.openxmlformats.org/officeDocument/2006/relationships/notesMaster" Target="/ppt/notesMasters/notesMaster1.xml" Id="R3ab4608c200f42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114ff13e0e4d76" /><Relationship Type="http://schemas.openxmlformats.org/officeDocument/2006/relationships/notesMaster" Target="/ppt/notesMasters/notesMaster1.xml" Id="Re1e62a0cec594f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14075a58334860" /><Relationship Type="http://schemas.openxmlformats.org/officeDocument/2006/relationships/notesMaster" Target="/ppt/notesMasters/notesMaster1.xml" Id="R569a5168411f47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title: Development of an AI-Assisted Platform for Generating Playable Browser Games from User-Provided Storylines. Astana IT University, Software Engineering, SE-2417. Initial diploma review, 22 October 2026. Supervisor: Shyngys Alshynov.</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evidence gaps: no administered survey, user interviews or substantive client agreement. Three to five actual user discussions or qualifying client agreement remain pending. Writers, educators and small creative teams are candidate groups, not validated segments.</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draft reviews 14 scholarly sources, with peer-reviewed works, a book chapter and two identified preprints distinguished. Key sources: Wang et al., ByteSized32, EMNLP 2023, https://aclanthology.org/2023.emnlp-main.830/ ; Amershi et al., Guidelines for Human-AI Interaction, 2019, https://www.microsoft.com/en-us/research/publication/guidelines-for-human-ai-interaction/ . This slide reports the draft synthesis, not independent validation of each result.</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product documentation desk review, 22 October 2026. Rosebud: https://rosebud.ai/tutorial ; GDevelop: https://gdevelop.io/blog/make-games-with-ai-agent-gdevelop-automated-prompt ; AI Dungeon: https://help.aidungeon.com/getting-started . Nine shared criteria in the repository. No hands-on benchmark. Undocumented checks do not establish that a competitor lacks them.</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areas each compare three alternatives. Recommended server/jobs: Spring Boot, PostgreSQL, RabbitMQ and a separate Python worker. Generation: structured game data plus validation/repair. Runtime: Phaser 3. Alternative server stacks include Python/Celery and Go/Asynq. Runtime alternatives include PixiJS and Godot web export. The team has not installed or demonstrated the proposed stack.</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Requirements draft contains 13 functional requirements and 8 nonfunctional requirements, with Must/Should priority, provenance and observable acceptance. Examples: R-03 actual status, R-06 simplification disclosure, R-08 reachable ending, R-09 exact validated runtime version, Q-01 safe data boundary. No requirement has confirmed user-evidence provenance yet.</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conceptual decomposition of the proposed architecture. The platform records job and version status, the worker returns candidate structured game data and checks, and a fixed browser runtime interprets only validated data. Queued, generating and validating may lead to ready or failed. Exact contract, limits and access policy remain open.</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low-fidelity wireframes cover input/preferences, recorded progress, result and simplifications, play and ending, catalogue/version history, and failure/retry. No usability study, live generation or implemented gameplay is represented. Illustration uses prototype/result-play.svg rendered to PNG without changing its contents.</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verification draft lists V01–V18. Prompt corpus separates manually authored calibration from fixed evaluation prompts, supported cases, conditional simplifications and transparent rejections. Planned measures require conditions and denominators. A search timeout means unverified completion, not an impossible ending. No tests or generation runs have executed.</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docs/project-task-plan.md, docs/plan-reconciliation.md, docs/october-submission.md, docs/supervisor-feedback.md. The 36 tasks prepare eleven sections, repository and presentation. They are separate from the implementation roadmap. Supervisor clarification keeps every section at minimal depth plus Git/YouTrack. No substantive artifact review comments, real student peer-review history, reviewed tag or remote/YouTrack verification are evidenced.</a:t>
            </a:r>
          </a:p>
          <a:p xmlns:a="http://schemas.openxmlformats.org/drawingml/2006/main">
            <a:r>
              <a:t>Evidence paths are relative to work/diploma/. All claims describe preparation drafts as at 22 October 2026. No runnable game or generator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1d365bdbf84d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39a14668d941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3a6f9d44e242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68dbaac22048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f8667d5a4148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9f75dd8e4343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C2448A-793F-4016-8826-882A2FD65E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48E865-B16C-43B2-9F2B-AFB0A87ACD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EF0B92-DE1E-4033-B4E1-AFAC8C930C7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7A2B59-FAF1-42F6-88C8-D0CDFE9530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77466E-59C7-48E5-BFFC-2E4E61E630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BFB06C-2E51-4C3B-8293-80BA709B7A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45404B-510B-49BF-9009-46B3B58AF8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02325A-CF09-4DD2-B405-43B08CE61F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371564-CA5B-4FD3-A28C-C6B7DE7E2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0EAD0B-7AF5-4705-A6F6-7C8D46704C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e0530cbb174c9a" /><Relationship Type="http://schemas.openxmlformats.org/officeDocument/2006/relationships/slideLayout" Target="/ppt/slideLayouts/slideLayout1.xml" Id="R4324e332aba247e1" /><Relationship Type="http://schemas.openxmlformats.org/officeDocument/2006/relationships/slideLayout" Target="/ppt/slideLayouts/slideLayout2.xml" Id="R2aeedc6a0493489e" /><Relationship Type="http://schemas.openxmlformats.org/officeDocument/2006/relationships/slideLayout" Target="/ppt/slideLayouts/slideLayout3.xml" Id="Rce2df9a424884250" /><Relationship Type="http://schemas.openxmlformats.org/officeDocument/2006/relationships/slideLayout" Target="/ppt/slideLayouts/slideLayout4.xml" Id="Re080819b54514109" /><Relationship Type="http://schemas.openxmlformats.org/officeDocument/2006/relationships/slideLayout" Target="/ppt/slideLayouts/slideLayout5.xml" Id="Rb53b2bcba72a483e" /><Relationship Type="http://schemas.openxmlformats.org/officeDocument/2006/relationships/slideLayout" Target="/ppt/slideLayouts/slideLayout6.xml" Id="Refa09be3ca6942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24e332aba247e1"/>
    <p:sldLayoutId xmlns:r="http://schemas.openxmlformats.org/officeDocument/2006/relationships" id="2147483650" r:id="R2aeedc6a0493489e"/>
    <p:sldLayoutId xmlns:r="http://schemas.openxmlformats.org/officeDocument/2006/relationships" id="2147483651" r:id="Rce2df9a424884250"/>
    <p:sldLayoutId xmlns:r="http://schemas.openxmlformats.org/officeDocument/2006/relationships" id="2147483652" r:id="Re080819b54514109"/>
    <p:sldLayoutId xmlns:r="http://schemas.openxmlformats.org/officeDocument/2006/relationships" id="2147483653" r:id="Rb53b2bcba72a483e"/>
    <p:sldLayoutId xmlns:r="http://schemas.openxmlformats.org/officeDocument/2006/relationships" id="2147483654" r:id="Refa09be3ca6942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5d61fec9ca4203" /><Relationship Type="http://schemas.openxmlformats.org/officeDocument/2006/relationships/notesSlide" Target="/ppt/notesSlides/notesSlide1.xml" Id="Rdab3380c78fb43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dcf5e7484e4e5a" /><Relationship Type="http://schemas.openxmlformats.org/officeDocument/2006/relationships/notesSlide" Target="/ppt/notesSlides/notesSlide2.xml" Id="R6c3e5020dbbe46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9c87d4e7c44e33" /><Relationship Type="http://schemas.openxmlformats.org/officeDocument/2006/relationships/notesSlide" Target="/ppt/notesSlides/notesSlide3.xml" Id="R13f8d97dae5245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54c16a458a44b5" /><Relationship Type="http://schemas.openxmlformats.org/officeDocument/2006/relationships/notesSlide" Target="/ppt/notesSlides/notesSlide4.xml" Id="R762ae4c0148d4c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8eecd321af4411" /><Relationship Type="http://schemas.openxmlformats.org/officeDocument/2006/relationships/notesSlide" Target="/ppt/notesSlides/notesSlide5.xml" Id="R50d06c1cdd0e40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ae62bee03a4d3e" /><Relationship Type="http://schemas.openxmlformats.org/officeDocument/2006/relationships/notesSlide" Target="/ppt/notesSlides/notesSlide6.xml" Id="Rff343c99e28046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e4931f86ea4504" /><Relationship Type="http://schemas.openxmlformats.org/officeDocument/2006/relationships/notesSlide" Target="/ppt/notesSlides/notesSlide7.xml" Id="R4ff4c355ff374d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e5b95863ed4e1a" /><Relationship Type="http://schemas.openxmlformats.org/officeDocument/2006/relationships/image" Target="/ppt/media/image.png" Id="R214fe6de2c904cea" /><Relationship Type="http://schemas.openxmlformats.org/officeDocument/2006/relationships/notesSlide" Target="/ppt/notesSlides/notesSlide8.xml" Id="R457d9e8f117643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02a03afc5841be" /><Relationship Type="http://schemas.openxmlformats.org/officeDocument/2006/relationships/notesSlide" Target="/ppt/notesSlides/notesSlide9.xml" Id="R41bb8c2248d349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f7ed0ecb774672" /><Relationship Type="http://schemas.openxmlformats.org/officeDocument/2006/relationships/notesSlide" Target="/ppt/notesSlides/notesSlide10.xml" Id="Rfe8b4e556a854ef7"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220F11-D9A4-409B-8478-0601FDA01426}"/>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DF8A88-B54F-4BC1-BBDC-49D292C7B371}"/>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AI-assisted browser game generation</a:t>
            </a:r>
          </a:p>
        </p:txBody>
      </p:sp>
      <p:sp>
        <p:nvSpPr>
          <p:cNvPr id="3" name="">
            <a:extLst xmlns:a="http://schemas.openxmlformats.org/drawingml/2006/main">
              <a:ext uri="{FF2B5EF4-FFF2-40B4-BE49-F238E27FC236}">
                <a16:creationId xmlns:a16="http://schemas.microsoft.com/office/drawing/2014/main" id="{78BE0E4C-EE99-411C-874C-3817B9D152C1}"/>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540280-DABD-415B-9BC1-0610FB11F8A3}"/>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1 Proposal · docs/proposal.md</a:t>
            </a:r>
          </a:p>
        </p:txBody>
      </p:sp>
      <p:sp>
        <p:nvSpPr>
          <p:cNvPr id="5" name="">
            <a:extLst xmlns:a="http://schemas.openxmlformats.org/drawingml/2006/main">
              <a:ext uri="{FF2B5EF4-FFF2-40B4-BE49-F238E27FC236}">
                <a16:creationId xmlns:a16="http://schemas.microsoft.com/office/drawing/2014/main" id="{3446126C-FBEE-4E59-8BE5-437277A5DEBD}"/>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EB0D8FF6-EA94-46EB-8F05-489998E8270A}"/>
              </a:ext>
            </a:extLst>
          </p:cNvPr>
          <p:cNvSpPr>
            <a:spLocks xmlns:a="http://schemas.openxmlformats.org/drawingml/2006/main" noGrp="1"/>
          </p:cNvSpPr>
          <p:nvPr/>
        </p:nvSpPr>
        <p:spPr>
          <a:xfrm xmlns:a="http://schemas.openxmlformats.org/drawingml/2006/main">
            <a:off x="609600" y="1819275"/>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C40"/>
                </a:solidFill>
                <a:latin typeface="DejaVu Sans"/>
                <a:ea typeface="DejaVu Sans"/>
                <a:cs typeface="DejaVu Sans"/>
              </a:defRPr>
            </a:defPPr>
            <a:lvl1pPr>
              <a:defRPr sz="2700" b="1">
                <a:solidFill>
                  <a:srgbClr val="172C40"/>
                </a:solidFill>
                <a:latin typeface="DejaVu Sans"/>
                <a:ea typeface="DejaVu Sans"/>
                <a:cs typeface="DejaVu Sans"/>
              </a:defRPr>
            </a:lvl1pPr>
            <a:lvl2pPr>
              <a:defRPr sz="2700" b="1">
                <a:solidFill>
                  <a:srgbClr val="172C40"/>
                </a:solidFill>
                <a:latin typeface="DejaVu Sans"/>
                <a:ea typeface="DejaVu Sans"/>
                <a:cs typeface="DejaVu Sans"/>
              </a:defRPr>
            </a:lvl2pPr>
            <a:lvl3pPr>
              <a:defRPr sz="2700" b="1">
                <a:solidFill>
                  <a:srgbClr val="172C40"/>
                </a:solidFill>
                <a:latin typeface="DejaVu Sans"/>
                <a:ea typeface="DejaVu Sans"/>
                <a:cs typeface="DejaVu Sans"/>
              </a:defRPr>
            </a:lvl3pPr>
            <a:lvl4pPr>
              <a:defRPr sz="2700" b="1">
                <a:solidFill>
                  <a:srgbClr val="172C40"/>
                </a:solidFill>
                <a:latin typeface="DejaVu Sans"/>
                <a:ea typeface="DejaVu Sans"/>
                <a:cs typeface="DejaVu Sans"/>
              </a:defRPr>
            </a:lvl4pPr>
            <a:lvl5pPr>
              <a:defRPr sz="2700" b="1">
                <a:solidFill>
                  <a:srgbClr val="172C40"/>
                </a:solidFill>
                <a:latin typeface="DejaVu Sans"/>
                <a:ea typeface="DejaVu Sans"/>
                <a:cs typeface="DejaVu Sans"/>
              </a:defRPr>
            </a:lvl5pPr>
            <a:lvl6pPr>
              <a:defRPr sz="2700" b="1">
                <a:solidFill>
                  <a:srgbClr val="172C40"/>
                </a:solidFill>
                <a:latin typeface="DejaVu Sans"/>
                <a:ea typeface="DejaVu Sans"/>
                <a:cs typeface="DejaVu Sans"/>
              </a:defRPr>
            </a:lvl6pPr>
            <a:lvl7pPr>
              <a:defRPr sz="2700" b="1">
                <a:solidFill>
                  <a:srgbClr val="172C40"/>
                </a:solidFill>
                <a:latin typeface="DejaVu Sans"/>
                <a:ea typeface="DejaVu Sans"/>
                <a:cs typeface="DejaVu Sans"/>
              </a:defRPr>
            </a:lvl7pPr>
            <a:lvl8pPr>
              <a:defRPr sz="2700" b="1">
                <a:solidFill>
                  <a:srgbClr val="172C40"/>
                </a:solidFill>
                <a:latin typeface="DejaVu Sans"/>
                <a:ea typeface="DejaVu Sans"/>
                <a:cs typeface="DejaVu Sans"/>
              </a:defRPr>
            </a:lvl8pPr>
            <a:lvl9pPr>
              <a:defRPr sz="2700" b="1">
                <a:solidFill>
                  <a:srgbClr val="172C40"/>
                </a:solidFill>
                <a:latin typeface="DejaVu Sans"/>
                <a:ea typeface="DejaVu Sans"/>
                <a:cs typeface="DejaVu Sans"/>
              </a:defRPr>
            </a:lvl9pPr>
          </a:lstStyle>
          <a:p xmlns:a="http://schemas.openxmlformats.org/drawingml/2006/main">
            <a:pPr>
              <a:defRPr sz="2700" b="1">
                <a:solidFill>
                  <a:srgbClr val="172C40"/>
                </a:solidFill>
                <a:latin typeface="DejaVu Sans"/>
                <a:ea typeface="DejaVu Sans"/>
                <a:cs typeface="DejaVu Sans"/>
              </a:defRPr>
            </a:pPr>
            <a:r>
              <a:rPr sz="2700" b="1">
                <a:solidFill>
                  <a:srgbClr val="172C40"/>
                </a:solidFill>
                <a:latin typeface="DejaVu Sans"/>
                <a:ea typeface="DejaVu Sans"/>
                <a:cs typeface="DejaVu Sans"/>
              </a:rPr>
              <a:t>From a creator’s idea or storyline to a playable 2D browser game</a:t>
            </a:r>
          </a:p>
        </p:txBody>
      </p:sp>
      <p:sp>
        <p:nvSpPr>
          <p:cNvPr id="7" name="">
            <a:extLst xmlns:a="http://schemas.openxmlformats.org/drawingml/2006/main">
              <a:ext uri="{FF2B5EF4-FFF2-40B4-BE49-F238E27FC236}">
                <a16:creationId xmlns:a16="http://schemas.microsoft.com/office/drawing/2014/main" id="{2F0E37F0-312C-4D4D-8D40-952564FA7354}"/>
              </a:ext>
            </a:extLst>
          </p:cNvPr>
          <p:cNvSpPr>
            <a:spLocks xmlns:a="http://schemas.openxmlformats.org/drawingml/2006/main" noGrp="1"/>
          </p:cNvSpPr>
          <p:nvPr/>
        </p:nvSpPr>
        <p:spPr>
          <a:xfrm xmlns:a="http://schemas.openxmlformats.org/drawingml/2006/main">
            <a:off x="609600" y="30099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Initial review: eleven sections at minimal depth.</a:t>
            </a:r>
          </a:p>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Analysis and design drafts, with implementation and evaluation ahead.</a:t>
            </a:r>
          </a:p>
        </p:txBody>
      </p:sp>
      <p:sp>
        <p:nvSpPr>
          <p:cNvPr id="8" name="">
            <a:extLst xmlns:a="http://schemas.openxmlformats.org/drawingml/2006/main">
              <a:ext uri="{FF2B5EF4-FFF2-40B4-BE49-F238E27FC236}">
                <a16:creationId xmlns:a16="http://schemas.microsoft.com/office/drawing/2014/main" id="{FA4D747A-4B75-48D0-8D77-247F566FEE2C}"/>
              </a:ext>
            </a:extLst>
          </p:cNvPr>
          <p:cNvSpPr>
            <a:spLocks xmlns:a="http://schemas.openxmlformats.org/drawingml/2006/main" noGrp="1"/>
          </p:cNvSpPr>
          <p:nvPr/>
        </p:nvSpPr>
        <p:spPr>
          <a:xfrm xmlns:a="http://schemas.openxmlformats.org/drawingml/2006/main">
            <a:off x="609600" y="4095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E6478"/>
                </a:solidFill>
                <a:latin typeface="DejaVu Sans"/>
                <a:ea typeface="DejaVu Sans"/>
                <a:cs typeface="DejaVu Sans"/>
              </a:defRPr>
            </a:defPPr>
            <a:lvl1pPr>
              <a:defRPr sz="1950" b="1">
                <a:solidFill>
                  <a:srgbClr val="2E6478"/>
                </a:solidFill>
                <a:latin typeface="DejaVu Sans"/>
                <a:ea typeface="DejaVu Sans"/>
                <a:cs typeface="DejaVu Sans"/>
              </a:defRPr>
            </a:lvl1pPr>
            <a:lvl2pPr>
              <a:defRPr sz="1950" b="1">
                <a:solidFill>
                  <a:srgbClr val="2E6478"/>
                </a:solidFill>
                <a:latin typeface="DejaVu Sans"/>
                <a:ea typeface="DejaVu Sans"/>
                <a:cs typeface="DejaVu Sans"/>
              </a:defRPr>
            </a:lvl2pPr>
            <a:lvl3pPr>
              <a:defRPr sz="1950" b="1">
                <a:solidFill>
                  <a:srgbClr val="2E6478"/>
                </a:solidFill>
                <a:latin typeface="DejaVu Sans"/>
                <a:ea typeface="DejaVu Sans"/>
                <a:cs typeface="DejaVu Sans"/>
              </a:defRPr>
            </a:lvl3pPr>
            <a:lvl4pPr>
              <a:defRPr sz="1950" b="1">
                <a:solidFill>
                  <a:srgbClr val="2E6478"/>
                </a:solidFill>
                <a:latin typeface="DejaVu Sans"/>
                <a:ea typeface="DejaVu Sans"/>
                <a:cs typeface="DejaVu Sans"/>
              </a:defRPr>
            </a:lvl4pPr>
            <a:lvl5pPr>
              <a:defRPr sz="1950" b="1">
                <a:solidFill>
                  <a:srgbClr val="2E6478"/>
                </a:solidFill>
                <a:latin typeface="DejaVu Sans"/>
                <a:ea typeface="DejaVu Sans"/>
                <a:cs typeface="DejaVu Sans"/>
              </a:defRPr>
            </a:lvl5pPr>
            <a:lvl6pPr>
              <a:defRPr sz="1950" b="1">
                <a:solidFill>
                  <a:srgbClr val="2E6478"/>
                </a:solidFill>
                <a:latin typeface="DejaVu Sans"/>
                <a:ea typeface="DejaVu Sans"/>
                <a:cs typeface="DejaVu Sans"/>
              </a:defRPr>
            </a:lvl6pPr>
            <a:lvl7pPr>
              <a:defRPr sz="1950" b="1">
                <a:solidFill>
                  <a:srgbClr val="2E6478"/>
                </a:solidFill>
                <a:latin typeface="DejaVu Sans"/>
                <a:ea typeface="DejaVu Sans"/>
                <a:cs typeface="DejaVu Sans"/>
              </a:defRPr>
            </a:lvl7pPr>
            <a:lvl8pPr>
              <a:defRPr sz="1950" b="1">
                <a:solidFill>
                  <a:srgbClr val="2E6478"/>
                </a:solidFill>
                <a:latin typeface="DejaVu Sans"/>
                <a:ea typeface="DejaVu Sans"/>
                <a:cs typeface="DejaVu Sans"/>
              </a:defRPr>
            </a:lvl8pPr>
            <a:lvl9pPr>
              <a:defRPr sz="1950" b="1">
                <a:solidFill>
                  <a:srgbClr val="2E6478"/>
                </a:solidFill>
                <a:latin typeface="DejaVu Sans"/>
                <a:ea typeface="DejaVu Sans"/>
                <a:cs typeface="DejaVu Sans"/>
              </a:defRPr>
            </a:lvl9pPr>
          </a:lstStyle>
          <a:p xmlns:a="http://schemas.openxmlformats.org/drawingml/2006/main">
            <a:pPr>
              <a:defRPr sz="1950" b="1">
                <a:solidFill>
                  <a:srgbClr val="2E6478"/>
                </a:solidFill>
                <a:latin typeface="DejaVu Sans"/>
                <a:ea typeface="DejaVu Sans"/>
                <a:cs typeface="DejaVu Sans"/>
              </a:defRPr>
            </a:pPr>
            <a:r>
              <a:rPr sz="1950" b="1">
                <a:solidFill>
                  <a:srgbClr val="2E6478"/>
                </a:solidFill>
                <a:latin typeface="DejaVu Sans"/>
                <a:ea typeface="DejaVu Sans"/>
                <a:cs typeface="DejaVu Sans"/>
              </a:rPr>
              <a:t>Team and proposed contributions</a:t>
            </a:r>
          </a:p>
        </p:txBody>
      </p:sp>
      <p:sp>
        <p:nvSpPr>
          <p:cNvPr id="9" name="">
            <a:extLst xmlns:a="http://schemas.openxmlformats.org/drawingml/2006/main">
              <a:ext uri="{FF2B5EF4-FFF2-40B4-BE49-F238E27FC236}">
                <a16:creationId xmlns:a16="http://schemas.microsoft.com/office/drawing/2014/main" id="{86D70D2C-9F7D-4DDB-9FE9-A7E0807A3928}"/>
              </a:ext>
            </a:extLst>
          </p:cNvPr>
          <p:cNvSpPr>
            <a:spLocks xmlns:a="http://schemas.openxmlformats.org/drawingml/2006/main" noGrp="1"/>
          </p:cNvSpPr>
          <p:nvPr/>
        </p:nvSpPr>
        <p:spPr>
          <a:xfrm xmlns:a="http://schemas.openxmlformats.org/drawingml/2006/main">
            <a:off x="609600" y="4600575"/>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C40"/>
                </a:solidFill>
                <a:latin typeface="DejaVu Sans"/>
                <a:ea typeface="DejaVu Sans"/>
                <a:cs typeface="DejaVu Sans"/>
              </a:defRPr>
            </a:defPPr>
            <a:lvl1pPr>
              <a:defRPr sz="1725" b="0">
                <a:solidFill>
                  <a:srgbClr val="172C40"/>
                </a:solidFill>
                <a:latin typeface="DejaVu Sans"/>
                <a:ea typeface="DejaVu Sans"/>
                <a:cs typeface="DejaVu Sans"/>
              </a:defRPr>
            </a:lvl1pPr>
            <a:lvl2pPr>
              <a:defRPr sz="1725" b="0">
                <a:solidFill>
                  <a:srgbClr val="172C40"/>
                </a:solidFill>
                <a:latin typeface="DejaVu Sans"/>
                <a:ea typeface="DejaVu Sans"/>
                <a:cs typeface="DejaVu Sans"/>
              </a:defRPr>
            </a:lvl2pPr>
            <a:lvl3pPr>
              <a:defRPr sz="1725" b="0">
                <a:solidFill>
                  <a:srgbClr val="172C40"/>
                </a:solidFill>
                <a:latin typeface="DejaVu Sans"/>
                <a:ea typeface="DejaVu Sans"/>
                <a:cs typeface="DejaVu Sans"/>
              </a:defRPr>
            </a:lvl3pPr>
            <a:lvl4pPr>
              <a:defRPr sz="1725" b="0">
                <a:solidFill>
                  <a:srgbClr val="172C40"/>
                </a:solidFill>
                <a:latin typeface="DejaVu Sans"/>
                <a:ea typeface="DejaVu Sans"/>
                <a:cs typeface="DejaVu Sans"/>
              </a:defRPr>
            </a:lvl4pPr>
            <a:lvl5pPr>
              <a:defRPr sz="1725" b="0">
                <a:solidFill>
                  <a:srgbClr val="172C40"/>
                </a:solidFill>
                <a:latin typeface="DejaVu Sans"/>
                <a:ea typeface="DejaVu Sans"/>
                <a:cs typeface="DejaVu Sans"/>
              </a:defRPr>
            </a:lvl5pPr>
            <a:lvl6pPr>
              <a:defRPr sz="1725" b="0">
                <a:solidFill>
                  <a:srgbClr val="172C40"/>
                </a:solidFill>
                <a:latin typeface="DejaVu Sans"/>
                <a:ea typeface="DejaVu Sans"/>
                <a:cs typeface="DejaVu Sans"/>
              </a:defRPr>
            </a:lvl6pPr>
            <a:lvl7pPr>
              <a:defRPr sz="1725" b="0">
                <a:solidFill>
                  <a:srgbClr val="172C40"/>
                </a:solidFill>
                <a:latin typeface="DejaVu Sans"/>
                <a:ea typeface="DejaVu Sans"/>
                <a:cs typeface="DejaVu Sans"/>
              </a:defRPr>
            </a:lvl7pPr>
            <a:lvl8pPr>
              <a:defRPr sz="1725" b="0">
                <a:solidFill>
                  <a:srgbClr val="172C40"/>
                </a:solidFill>
                <a:latin typeface="DejaVu Sans"/>
                <a:ea typeface="DejaVu Sans"/>
                <a:cs typeface="DejaVu Sans"/>
              </a:defRPr>
            </a:lvl8pPr>
            <a:lvl9pPr>
              <a:defRPr sz="1725" b="0">
                <a:solidFill>
                  <a:srgbClr val="172C40"/>
                </a:solidFill>
                <a:latin typeface="DejaVu Sans"/>
                <a:ea typeface="DejaVu Sans"/>
                <a:cs typeface="DejaVu Sans"/>
              </a:defRPr>
            </a:lvl9pPr>
          </a:lstStyle>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Almadi Madiuly: frontend and UX/UI</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Zhaksylyk Aldiyar: backend and platform</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Yessengeldi Nurgeldi: AI generation and validation</a:t>
            </a:r>
          </a:p>
        </p:txBody>
      </p:sp>
    </p:spTree>
    <p:extLst>
      <p:ext uri="{BB962C8B-B14F-4D97-AF65-F5344CB8AC3E}">
        <p14:creationId xmlns:p14="http://schemas.microsoft.com/office/powerpoint/2010/main" val="1889274474"/>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A36475-1275-4C15-9D0C-7B040AF7F266}"/>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6E9477-DB00-4FC8-99E9-F29E4418C38C}"/>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Relevance and direct evidence</a:t>
            </a:r>
          </a:p>
        </p:txBody>
      </p:sp>
      <p:sp>
        <p:nvSpPr>
          <p:cNvPr id="3" name="">
            <a:extLst xmlns:a="http://schemas.openxmlformats.org/drawingml/2006/main">
              <a:ext uri="{FF2B5EF4-FFF2-40B4-BE49-F238E27FC236}">
                <a16:creationId xmlns:a16="http://schemas.microsoft.com/office/drawing/2014/main" id="{4669922A-28DE-4D54-9150-3AB85CE5D205}"/>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6B7453-4744-4469-9B06-86DC377AC809}"/>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2 Relevance · docs/evidence/relevance.md · questionnaire.md</a:t>
            </a:r>
          </a:p>
        </p:txBody>
      </p:sp>
      <p:sp>
        <p:nvSpPr>
          <p:cNvPr id="5" name="">
            <a:extLst xmlns:a="http://schemas.openxmlformats.org/drawingml/2006/main">
              <a:ext uri="{FF2B5EF4-FFF2-40B4-BE49-F238E27FC236}">
                <a16:creationId xmlns:a16="http://schemas.microsoft.com/office/drawing/2014/main" id="{706021BE-59CA-45C4-9DCE-97AD8E8788DE}"/>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BE743377-1ABF-453D-9709-B9D8DD798BDF}"/>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Problem hypothesis</a:t>
            </a:r>
          </a:p>
        </p:txBody>
      </p:sp>
      <p:sp>
        <p:nvSpPr>
          <p:cNvPr id="7" name="">
            <a:extLst xmlns:a="http://schemas.openxmlformats.org/drawingml/2006/main">
              <a:ext uri="{FF2B5EF4-FFF2-40B4-BE49-F238E27FC236}">
                <a16:creationId xmlns:a16="http://schemas.microsoft.com/office/drawing/2014/main" id="{08527055-57FC-430C-96CA-5EB70FEB791B}"/>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Nontechnical creators may have stories without the programming or engine skills to make them playable.</a:t>
            </a:r>
          </a:p>
        </p:txBody>
      </p:sp>
      <p:sp>
        <p:nvSpPr>
          <p:cNvPr id="8" name="">
            <a:extLst xmlns:a="http://schemas.openxmlformats.org/drawingml/2006/main">
              <a:ext uri="{FF2B5EF4-FFF2-40B4-BE49-F238E27FC236}">
                <a16:creationId xmlns:a16="http://schemas.microsoft.com/office/drawing/2014/main" id="{135FFE5D-8210-4AF1-8B54-F2F378D43009}"/>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Research questions</a:t>
            </a:r>
          </a:p>
        </p:txBody>
      </p:sp>
      <p:sp>
        <p:nvSpPr>
          <p:cNvPr id="9" name="">
            <a:extLst xmlns:a="http://schemas.openxmlformats.org/drawingml/2006/main">
              <a:ext uri="{FF2B5EF4-FFF2-40B4-BE49-F238E27FC236}">
                <a16:creationId xmlns:a16="http://schemas.microsoft.com/office/drawing/2014/main" id="{EEAC942C-8740-4E91-8742-0C53A2894846}"/>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Which actions and story elements must survive simplification? What output would creators accept?</a:t>
            </a:r>
          </a:p>
        </p:txBody>
      </p:sp>
      <p:sp>
        <p:nvSpPr>
          <p:cNvPr id="10" name="">
            <a:extLst xmlns:a="http://schemas.openxmlformats.org/drawingml/2006/main">
              <a:ext uri="{FF2B5EF4-FFF2-40B4-BE49-F238E27FC236}">
                <a16:creationId xmlns:a16="http://schemas.microsoft.com/office/drawing/2014/main" id="{907F8250-8B6C-4A81-8C91-243A67B71D99}"/>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Current evidence boundary</a:t>
            </a:r>
          </a:p>
        </p:txBody>
      </p:sp>
      <p:sp>
        <p:nvSpPr>
          <p:cNvPr id="11" name="">
            <a:extLst xmlns:a="http://schemas.openxmlformats.org/drawingml/2006/main">
              <a:ext uri="{FF2B5EF4-FFF2-40B4-BE49-F238E27FC236}">
                <a16:creationId xmlns:a16="http://schemas.microsoft.com/office/drawing/2014/main" id="{C77FB1DA-1409-439B-9C28-97610CC478CF}"/>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No user discussions or survey results. Plan 3–5 discussions or substantive client agreement before confirming needs.</a:t>
            </a:r>
          </a:p>
        </p:txBody>
      </p:sp>
    </p:spTree>
    <p:extLst>
      <p:ext uri="{BB962C8B-B14F-4D97-AF65-F5344CB8AC3E}">
        <p14:creationId xmlns:p14="http://schemas.microsoft.com/office/powerpoint/2010/main" val="1738751439"/>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C87549-70FD-4500-96CF-4A7F829E3E8C}"/>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6F336F-5FED-4D02-86C0-3C5EBEC9D9A1}"/>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Literature informs separate quality checks</a:t>
            </a:r>
          </a:p>
        </p:txBody>
      </p:sp>
      <p:sp>
        <p:nvSpPr>
          <p:cNvPr id="3" name="">
            <a:extLst xmlns:a="http://schemas.openxmlformats.org/drawingml/2006/main">
              <a:ext uri="{FF2B5EF4-FFF2-40B4-BE49-F238E27FC236}">
                <a16:creationId xmlns:a16="http://schemas.microsoft.com/office/drawing/2014/main" id="{4742904A-3BF5-4EFF-93FF-ED0EC22E2F4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46ABC9-50FC-48B7-B9BF-63FB98BCFA44}"/>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3 Literature · docs/literature.md</a:t>
            </a:r>
          </a:p>
        </p:txBody>
      </p:sp>
      <p:sp>
        <p:nvSpPr>
          <p:cNvPr id="5" name="">
            <a:extLst xmlns:a="http://schemas.openxmlformats.org/drawingml/2006/main">
              <a:ext uri="{FF2B5EF4-FFF2-40B4-BE49-F238E27FC236}">
                <a16:creationId xmlns:a16="http://schemas.microsoft.com/office/drawing/2014/main" id="{93242CD0-D230-4B4F-951A-2B7C0DD0ABF6}"/>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03</a:t>
            </a:r>
          </a:p>
        </p:txBody>
      </p:sp>
      <p:sp>
        <p:nvSpPr>
          <p:cNvPr id="6" name="">
            <a:extLst xmlns:a="http://schemas.openxmlformats.org/drawingml/2006/main">
              <a:ext uri="{FF2B5EF4-FFF2-40B4-BE49-F238E27FC236}">
                <a16:creationId xmlns:a16="http://schemas.microsoft.com/office/drawing/2014/main" id="{62257E11-2E32-4742-9CAC-B95172CBBC5E}"/>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Narrative and game rules</a:t>
            </a:r>
          </a:p>
        </p:txBody>
      </p:sp>
      <p:sp>
        <p:nvSpPr>
          <p:cNvPr id="7" name="">
            <a:extLst xmlns:a="http://schemas.openxmlformats.org/drawingml/2006/main">
              <a:ext uri="{FF2B5EF4-FFF2-40B4-BE49-F238E27FC236}">
                <a16:creationId xmlns:a16="http://schemas.microsoft.com/office/drawing/2014/main" id="{79A0BA2A-8EED-433D-A2D3-2B951505D38B}"/>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An explicit game specification can connect story intent with actions, progression and an ending.</a:t>
            </a:r>
          </a:p>
        </p:txBody>
      </p:sp>
      <p:sp>
        <p:nvSpPr>
          <p:cNvPr id="8" name="">
            <a:extLst xmlns:a="http://schemas.openxmlformats.org/drawingml/2006/main">
              <a:ext uri="{FF2B5EF4-FFF2-40B4-BE49-F238E27FC236}">
                <a16:creationId xmlns:a16="http://schemas.microsoft.com/office/drawing/2014/main" id="{5F677B06-249E-49EC-8BB8-7F40D9C5B08B}"/>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Execution, fidelity and completion</a:t>
            </a:r>
          </a:p>
        </p:txBody>
      </p:sp>
      <p:sp>
        <p:nvSpPr>
          <p:cNvPr id="9" name="">
            <a:extLst xmlns:a="http://schemas.openxmlformats.org/drawingml/2006/main">
              <a:ext uri="{FF2B5EF4-FFF2-40B4-BE49-F238E27FC236}">
                <a16:creationId xmlns:a16="http://schemas.microsoft.com/office/drawing/2014/main" id="{60F68302-99A7-4FB1-8543-F4A5F8944D12}"/>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ByteSized32 motivates separate checks. A game that launches can still misrepresent its story or lack a reachable ending.</a:t>
            </a:r>
          </a:p>
        </p:txBody>
      </p:sp>
      <p:sp>
        <p:nvSpPr>
          <p:cNvPr id="10" name="">
            <a:extLst xmlns:a="http://schemas.openxmlformats.org/drawingml/2006/main">
              <a:ext uri="{FF2B5EF4-FFF2-40B4-BE49-F238E27FC236}">
                <a16:creationId xmlns:a16="http://schemas.microsoft.com/office/drawing/2014/main" id="{B8252840-A2AF-41F9-A4DE-35DEB40F97FC}"/>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Human–AI interaction</a:t>
            </a:r>
          </a:p>
        </p:txBody>
      </p:sp>
      <p:sp>
        <p:nvSpPr>
          <p:cNvPr id="11" name="">
            <a:extLst xmlns:a="http://schemas.openxmlformats.org/drawingml/2006/main">
              <a:ext uri="{FF2B5EF4-FFF2-40B4-BE49-F238E27FC236}">
                <a16:creationId xmlns:a16="http://schemas.microsoft.com/office/drawing/2014/main" id="{F2D7286E-6EA0-48E1-B39B-A659CB4BBF7C}"/>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Explain capabilities, simplifications and failures. Literature supports design choices, while user demand remains unverified.</a:t>
            </a:r>
          </a:p>
        </p:txBody>
      </p:sp>
    </p:spTree>
    <p:extLst>
      <p:ext uri="{BB962C8B-B14F-4D97-AF65-F5344CB8AC3E}">
        <p14:creationId xmlns:p14="http://schemas.microsoft.com/office/powerpoint/2010/main" val="1715543010"/>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88B489-7655-40FD-9E97-56A17D544FA5}"/>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38BD3-241B-475C-B013-EC0DC082B11E}"/>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Existing systems establish relevant precedents</a:t>
            </a:r>
          </a:p>
        </p:txBody>
      </p:sp>
      <p:sp>
        <p:nvSpPr>
          <p:cNvPr id="3" name="">
            <a:extLst xmlns:a="http://schemas.openxmlformats.org/drawingml/2006/main">
              <a:ext uri="{FF2B5EF4-FFF2-40B4-BE49-F238E27FC236}">
                <a16:creationId xmlns:a16="http://schemas.microsoft.com/office/drawing/2014/main" id="{B034B113-4E53-4B7D-8D30-DEDB41E34311}"/>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FA4F65-5F8B-4AF0-BEE3-05758503CD9D}"/>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4 Desk comparison · docs/existing-systems.md</a:t>
            </a:r>
          </a:p>
        </p:txBody>
      </p:sp>
      <p:sp>
        <p:nvSpPr>
          <p:cNvPr id="5" name="">
            <a:extLst xmlns:a="http://schemas.openxmlformats.org/drawingml/2006/main">
              <a:ext uri="{FF2B5EF4-FFF2-40B4-BE49-F238E27FC236}">
                <a16:creationId xmlns:a16="http://schemas.microsoft.com/office/drawing/2014/main" id="{0534B866-ABDE-44DA-9AD4-AA51A3F8188B}"/>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04</a:t>
            </a:r>
          </a:p>
        </p:txBody>
      </p:sp>
      <p:sp>
        <p:nvSpPr>
          <p:cNvPr id="6" name="">
            <a:extLst xmlns:a="http://schemas.openxmlformats.org/drawingml/2006/main">
              <a:ext uri="{FF2B5EF4-FFF2-40B4-BE49-F238E27FC236}">
                <a16:creationId xmlns:a16="http://schemas.microsoft.com/office/drawing/2014/main" id="{03E455C5-81EE-4621-9FF0-B9F28FD43EB2}"/>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Rosebud AI</a:t>
            </a:r>
          </a:p>
        </p:txBody>
      </p:sp>
      <p:sp>
        <p:nvSpPr>
          <p:cNvPr id="7" name="">
            <a:extLst xmlns:a="http://schemas.openxmlformats.org/drawingml/2006/main">
              <a:ext uri="{FF2B5EF4-FFF2-40B4-BE49-F238E27FC236}">
                <a16:creationId xmlns:a16="http://schemas.microsoft.com/office/drawing/2014/main" id="{5B5E3503-BA8E-4FEE-B118-95ED84A237F9}"/>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Prompt-based browser game creation and iterative preview. Closest comparator to the proposed platform.</a:t>
            </a:r>
          </a:p>
        </p:txBody>
      </p:sp>
      <p:sp>
        <p:nvSpPr>
          <p:cNvPr id="8" name="">
            <a:extLst xmlns:a="http://schemas.openxmlformats.org/drawingml/2006/main">
              <a:ext uri="{FF2B5EF4-FFF2-40B4-BE49-F238E27FC236}">
                <a16:creationId xmlns:a16="http://schemas.microsoft.com/office/drawing/2014/main" id="{F149893F-E04B-4A8F-BFBB-ECA5BCC36FDB}"/>
              </a:ext>
            </a:extLst>
          </p:cNvPr>
          <p:cNvSpPr>
            <a:spLocks xmlns:a="http://schemas.openxmlformats.org/drawingml/2006/main" noGrp="1"/>
          </p:cNvSpPr>
          <p:nvPr/>
        </p:nvSpPr>
        <p:spPr>
          <a:xfrm xmlns:a="http://schemas.openxmlformats.org/drawingml/2006/main">
            <a:off x="609600" y="31051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GDevelop and AI Dungeon</a:t>
            </a:r>
          </a:p>
        </p:txBody>
      </p:sp>
      <p:sp>
        <p:nvSpPr>
          <p:cNvPr id="9" name="">
            <a:extLst xmlns:a="http://schemas.openxmlformats.org/drawingml/2006/main">
              <a:ext uri="{FF2B5EF4-FFF2-40B4-BE49-F238E27FC236}">
                <a16:creationId xmlns:a16="http://schemas.microsoft.com/office/drawing/2014/main" id="{ACA4D403-0084-4453-8D79-F20B72B45C34}"/>
              </a:ext>
            </a:extLst>
          </p:cNvPr>
          <p:cNvSpPr>
            <a:spLocks xmlns:a="http://schemas.openxmlformats.org/drawingml/2006/main" noGrp="1"/>
          </p:cNvSpPr>
          <p:nvPr/>
        </p:nvSpPr>
        <p:spPr>
          <a:xfrm xmlns:a="http://schemas.openxmlformats.org/drawingml/2006/main">
            <a:off x="609600" y="3543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GDevelop exposes objects and event rules. AI Dungeon supports open-ended interactive text narratives.</a:t>
            </a:r>
          </a:p>
        </p:txBody>
      </p:sp>
      <p:sp>
        <p:nvSpPr>
          <p:cNvPr id="10" name="">
            <a:extLst xmlns:a="http://schemas.openxmlformats.org/drawingml/2006/main">
              <a:ext uri="{FF2B5EF4-FFF2-40B4-BE49-F238E27FC236}">
                <a16:creationId xmlns:a16="http://schemas.microsoft.com/office/drawing/2014/main" id="{E16C3210-F7A0-4FC9-BFB2-9E5B47A75623}"/>
              </a:ext>
            </a:extLst>
          </p:cNvPr>
          <p:cNvSpPr>
            <a:spLocks xmlns:a="http://schemas.openxmlformats.org/drawingml/2006/main" noGrp="1"/>
          </p:cNvSpPr>
          <p:nvPr/>
        </p:nvSpPr>
        <p:spPr>
          <a:xfrm xmlns:a="http://schemas.openxmlformats.org/drawingml/2006/main">
            <a:off x="609600" y="44005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Proposed investigation</a:t>
            </a:r>
          </a:p>
        </p:txBody>
      </p:sp>
      <p:sp>
        <p:nvSpPr>
          <p:cNvPr id="11" name="">
            <a:extLst xmlns:a="http://schemas.openxmlformats.org/drawingml/2006/main">
              <a:ext uri="{FF2B5EF4-FFF2-40B4-BE49-F238E27FC236}">
                <a16:creationId xmlns:a16="http://schemas.microsoft.com/office/drawing/2014/main" id="{08DBB208-0100-47E7-83C5-9E8FDF182D1E}"/>
              </a:ext>
            </a:extLst>
          </p:cNvPr>
          <p:cNvSpPr>
            <a:spLocks xmlns:a="http://schemas.openxmlformats.org/drawingml/2006/main" noGrp="1"/>
          </p:cNvSpPr>
          <p:nvPr/>
        </p:nvSpPr>
        <p:spPr>
          <a:xfrm xmlns:a="http://schemas.openxmlformats.org/drawingml/2006/main">
            <a:off x="609600" y="4838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A bounded specification, disclosed simplifications and explicit completion checks. No measured advantage over existing tools.</a:t>
            </a:r>
          </a:p>
        </p:txBody>
      </p:sp>
    </p:spTree>
    <p:extLst>
      <p:ext uri="{BB962C8B-B14F-4D97-AF65-F5344CB8AC3E}">
        <p14:creationId xmlns:p14="http://schemas.microsoft.com/office/powerpoint/2010/main" val="772013663"/>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AE2F46-D572-475A-9571-C239ECB1285B}"/>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B892A0-FE58-4CC1-80C3-9415C3A321AE}"/>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Technology choices remain provisional</a:t>
            </a:r>
          </a:p>
        </p:txBody>
      </p:sp>
      <p:sp>
        <p:nvSpPr>
          <p:cNvPr id="3" name="">
            <a:extLst xmlns:a="http://schemas.openxmlformats.org/drawingml/2006/main">
              <a:ext uri="{FF2B5EF4-FFF2-40B4-BE49-F238E27FC236}">
                <a16:creationId xmlns:a16="http://schemas.microsoft.com/office/drawing/2014/main" id="{4A692CC2-41EE-48B3-8CB7-84ECB89D7B8E}"/>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27F6CF-7B04-4986-AD13-41995AB6048F}"/>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5 Alternatives · docs/technology-comparison.md · docs/technology/</a:t>
            </a:r>
          </a:p>
        </p:txBody>
      </p:sp>
      <p:sp>
        <p:nvSpPr>
          <p:cNvPr id="5" name="">
            <a:extLst xmlns:a="http://schemas.openxmlformats.org/drawingml/2006/main">
              <a:ext uri="{FF2B5EF4-FFF2-40B4-BE49-F238E27FC236}">
                <a16:creationId xmlns:a16="http://schemas.microsoft.com/office/drawing/2014/main" id="{0D1D50DE-523B-4DEB-BC17-0B163E59261A}"/>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05</a:t>
            </a:r>
          </a:p>
        </p:txBody>
      </p:sp>
      <p:sp>
        <p:nvSpPr>
          <p:cNvPr id="6" name="">
            <a:extLst xmlns:a="http://schemas.openxmlformats.org/drawingml/2006/main">
              <a:ext uri="{FF2B5EF4-FFF2-40B4-BE49-F238E27FC236}">
                <a16:creationId xmlns:a16="http://schemas.microsoft.com/office/drawing/2014/main" id="{1B789163-FF54-4C66-BC6E-1D0C5E7E333E}"/>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Platform and asynchronous jobs</a:t>
            </a:r>
          </a:p>
        </p:txBody>
      </p:sp>
      <p:sp>
        <p:nvSpPr>
          <p:cNvPr id="7" name="">
            <a:extLst xmlns:a="http://schemas.openxmlformats.org/drawingml/2006/main">
              <a:ext uri="{FF2B5EF4-FFF2-40B4-BE49-F238E27FC236}">
                <a16:creationId xmlns:a16="http://schemas.microsoft.com/office/drawing/2014/main" id="{D85D45B1-CB24-4716-AFDB-30F2C4EB3AB0}"/>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Proposed Spring Boot API, PostgreSQL, RabbitMQ and Python worker. Confirm job handoff and failure handling in a small feasibility test.</a:t>
            </a:r>
          </a:p>
        </p:txBody>
      </p:sp>
      <p:sp>
        <p:nvSpPr>
          <p:cNvPr id="8" name="">
            <a:extLst xmlns:a="http://schemas.openxmlformats.org/drawingml/2006/main">
              <a:ext uri="{FF2B5EF4-FFF2-40B4-BE49-F238E27FC236}">
                <a16:creationId xmlns:a16="http://schemas.microsoft.com/office/drawing/2014/main" id="{3DF28E29-392D-48A9-8C05-36D62362FD35}"/>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Generation and validation</a:t>
            </a:r>
          </a:p>
        </p:txBody>
      </p:sp>
      <p:sp>
        <p:nvSpPr>
          <p:cNvPr id="9" name="">
            <a:extLst xmlns:a="http://schemas.openxmlformats.org/drawingml/2006/main">
              <a:ext uri="{FF2B5EF4-FFF2-40B4-BE49-F238E27FC236}">
                <a16:creationId xmlns:a16="http://schemas.microsoft.com/office/drawing/2014/main" id="{EA043C7D-CD6B-41BE-B27F-32C1C96A9BB1}"/>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Generate structured game data. Check schema, references and reachable ending, then repair within an agreed limit or fail clearly.</a:t>
            </a:r>
          </a:p>
        </p:txBody>
      </p:sp>
      <p:sp>
        <p:nvSpPr>
          <p:cNvPr id="10" name="">
            <a:extLst xmlns:a="http://schemas.openxmlformats.org/drawingml/2006/main">
              <a:ext uri="{FF2B5EF4-FFF2-40B4-BE49-F238E27FC236}">
                <a16:creationId xmlns:a16="http://schemas.microsoft.com/office/drawing/2014/main" id="{5CADEE84-2BFB-44D7-B463-8255FB5E3277}"/>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Trusted browser runtime</a:t>
            </a:r>
          </a:p>
        </p:txBody>
      </p:sp>
      <p:sp>
        <p:nvSpPr>
          <p:cNvPr id="11" name="">
            <a:extLst xmlns:a="http://schemas.openxmlformats.org/drawingml/2006/main">
              <a:ext uri="{FF2B5EF4-FFF2-40B4-BE49-F238E27FC236}">
                <a16:creationId xmlns:a16="http://schemas.microsoft.com/office/drawing/2014/main" id="{2682AAC4-3E8E-47B3-90D1-19E27D91E308}"/>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Proposed Phaser 3 runtime interprets validated data. First demonstrate a handwritten game with an action and ending.</a:t>
            </a:r>
          </a:p>
        </p:txBody>
      </p:sp>
    </p:spTree>
    <p:extLst>
      <p:ext uri="{BB962C8B-B14F-4D97-AF65-F5344CB8AC3E}">
        <p14:creationId xmlns:p14="http://schemas.microsoft.com/office/powerpoint/2010/main" val="815752433"/>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A2C941-8F31-4EB2-869A-3EAB3364AE2E}"/>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483A5B-9544-4831-AC0C-D8A24F18D217}"/>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Draft requirements define observable outcomes</a:t>
            </a:r>
          </a:p>
        </p:txBody>
      </p:sp>
      <p:sp>
        <p:nvSpPr>
          <p:cNvPr id="3" name="">
            <a:extLst xmlns:a="http://schemas.openxmlformats.org/drawingml/2006/main">
              <a:ext uri="{FF2B5EF4-FFF2-40B4-BE49-F238E27FC236}">
                <a16:creationId xmlns:a16="http://schemas.microsoft.com/office/drawing/2014/main" id="{A095F2C7-3FAF-4346-A9A0-AE13284CD21E}"/>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2F8DDA-A24E-4F98-9CF1-93B94123D156}"/>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6 Requirements · docs/requirements.md · docs/decisions/scope-and-contract.md</a:t>
            </a:r>
          </a:p>
        </p:txBody>
      </p:sp>
      <p:sp>
        <p:nvSpPr>
          <p:cNvPr id="5" name="">
            <a:extLst xmlns:a="http://schemas.openxmlformats.org/drawingml/2006/main">
              <a:ext uri="{FF2B5EF4-FFF2-40B4-BE49-F238E27FC236}">
                <a16:creationId xmlns:a16="http://schemas.microsoft.com/office/drawing/2014/main" id="{3966D156-59F1-4925-B660-34B108141C04}"/>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06</a:t>
            </a:r>
          </a:p>
        </p:txBody>
      </p:sp>
      <p:sp>
        <p:nvSpPr>
          <p:cNvPr id="6" name="">
            <a:extLst xmlns:a="http://schemas.openxmlformats.org/drawingml/2006/main">
              <a:ext uri="{FF2B5EF4-FFF2-40B4-BE49-F238E27FC236}">
                <a16:creationId xmlns:a16="http://schemas.microsoft.com/office/drawing/2014/main" id="{62E16C4E-A2DE-4F20-9DF1-E0B538D7D356}"/>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Authoring and traceability</a:t>
            </a:r>
          </a:p>
        </p:txBody>
      </p:sp>
      <p:sp>
        <p:nvSpPr>
          <p:cNvPr id="7" name="">
            <a:extLst xmlns:a="http://schemas.openxmlformats.org/drawingml/2006/main">
              <a:ext uri="{FF2B5EF4-FFF2-40B4-BE49-F238E27FC236}">
                <a16:creationId xmlns:a16="http://schemas.microsoft.com/office/drawing/2014/main" id="{D19D6B66-91A5-49D3-9CBB-31084C06FA0B}"/>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Retain story and preferences. Track project, version and job. Show recorded status and preserve prior results when retrying.</a:t>
            </a:r>
          </a:p>
        </p:txBody>
      </p:sp>
      <p:sp>
        <p:nvSpPr>
          <p:cNvPr id="8" name="">
            <a:extLst xmlns:a="http://schemas.openxmlformats.org/drawingml/2006/main">
              <a:ext uri="{FF2B5EF4-FFF2-40B4-BE49-F238E27FC236}">
                <a16:creationId xmlns:a16="http://schemas.microsoft.com/office/drawing/2014/main" id="{10B3C114-38A9-41E3-B039-3AD338DE0482}"/>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Playable result</a:t>
            </a:r>
          </a:p>
        </p:txBody>
      </p:sp>
      <p:sp>
        <p:nvSpPr>
          <p:cNvPr id="9" name="">
            <a:extLst xmlns:a="http://schemas.openxmlformats.org/drawingml/2006/main">
              <a:ext uri="{FF2B5EF4-FFF2-40B4-BE49-F238E27FC236}">
                <a16:creationId xmlns:a16="http://schemas.microsoft.com/office/drawing/2014/main" id="{A1ED1E61-26A6-4EDF-9AE1-53FE791764CA}"/>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Declare objective, actions, controls and ending. Show requested mechanics, actual simplifications and reasons before play.</a:t>
            </a:r>
          </a:p>
        </p:txBody>
      </p:sp>
      <p:sp>
        <p:nvSpPr>
          <p:cNvPr id="10" name="">
            <a:extLst xmlns:a="http://schemas.openxmlformats.org/drawingml/2006/main">
              <a:ext uri="{FF2B5EF4-FFF2-40B4-BE49-F238E27FC236}">
                <a16:creationId xmlns:a16="http://schemas.microsoft.com/office/drawing/2014/main" id="{925CC5D3-F96A-426B-94CA-BBB8354D3135}"/>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Quality and safety</a:t>
            </a:r>
          </a:p>
        </p:txBody>
      </p:sp>
      <p:sp>
        <p:nvSpPr>
          <p:cNvPr id="11" name="">
            <a:extLst xmlns:a="http://schemas.openxmlformats.org/drawingml/2006/main">
              <a:ext uri="{FF2B5EF4-FFF2-40B4-BE49-F238E27FC236}">
                <a16:creationId xmlns:a16="http://schemas.microsoft.com/office/drawing/2014/main" id="{60F42BAA-6D1C-4A97-B90B-3E2F3DC035B5}"/>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Reject invalid or unsafe data. Bound retries and resource use. Test exact-version delivery, keyboard access and reproducibility.</a:t>
            </a:r>
          </a:p>
        </p:txBody>
      </p:sp>
    </p:spTree>
    <p:extLst>
      <p:ext uri="{BB962C8B-B14F-4D97-AF65-F5344CB8AC3E}">
        <p14:creationId xmlns:p14="http://schemas.microsoft.com/office/powerpoint/2010/main" val="1418321811"/>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7AC0714-4CA7-472D-AEF1-A927D3B214F2}"/>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5D2AEC-02AD-4FE6-AB78-ADABC482691C}"/>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Proposed architecture separates four responsibilities</a:t>
            </a:r>
          </a:p>
        </p:txBody>
      </p:sp>
      <p:sp>
        <p:nvSpPr>
          <p:cNvPr id="3" name="">
            <a:extLst xmlns:a="http://schemas.openxmlformats.org/drawingml/2006/main">
              <a:ext uri="{FF2B5EF4-FFF2-40B4-BE49-F238E27FC236}">
                <a16:creationId xmlns:a16="http://schemas.microsoft.com/office/drawing/2014/main" id="{A6E065D2-7988-4CF1-8608-F8D41BD164C5}"/>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7D13CC-EBA4-46A7-ADB0-D70093AD1296}"/>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7 Architecture · docs/architecture.md · diagrams/component.svg</a:t>
            </a:r>
          </a:p>
        </p:txBody>
      </p:sp>
      <p:sp>
        <p:nvSpPr>
          <p:cNvPr id="5" name="">
            <a:extLst xmlns:a="http://schemas.openxmlformats.org/drawingml/2006/main">
              <a:ext uri="{FF2B5EF4-FFF2-40B4-BE49-F238E27FC236}">
                <a16:creationId xmlns:a16="http://schemas.microsoft.com/office/drawing/2014/main" id="{785BDDBF-DEEF-44D2-A1A2-D6ECC7725C78}"/>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07</a:t>
            </a:r>
          </a:p>
        </p:txBody>
      </p:sp>
      <p:sp>
        <p:nvSpPr>
          <p:cNvPr id="6" name="">
            <a:extLst xmlns:a="http://schemas.openxmlformats.org/drawingml/2006/main">
              <a:ext uri="{FF2B5EF4-FFF2-40B4-BE49-F238E27FC236}">
                <a16:creationId xmlns:a16="http://schemas.microsoft.com/office/drawing/2014/main" id="{F0A51420-40C1-4B31-81AE-6E7CE21B60AE}"/>
              </a:ext>
            </a:extLst>
          </p:cNvPr>
          <p:cNvSpPr>
            <a:spLocks xmlns:a="http://schemas.openxmlformats.org/drawingml/2006/main" noGrp="1"/>
          </p:cNvSpPr>
          <p:nvPr/>
        </p:nvSpPr>
        <p:spPr>
          <a:xfrm xmlns:a="http://schemas.openxmlformats.org/drawingml/2006/main">
            <a:off x="609600" y="2000250"/>
            <a:ext cx="3238500" cy="1371600"/>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9165E7-B80A-4081-B277-20E8DC184D79}"/>
              </a:ext>
            </a:extLst>
          </p:cNvPr>
          <p:cNvSpPr>
            <a:spLocks xmlns:a="http://schemas.openxmlformats.org/drawingml/2006/main" noGrp="1"/>
          </p:cNvSpPr>
          <p:nvPr/>
        </p:nvSpPr>
        <p:spPr>
          <a:xfrm xmlns:a="http://schemas.openxmlformats.org/drawingml/2006/main">
            <a:off x="762000" y="2162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defRPr sz="1725" b="1">
                <a:solidFill>
                  <a:srgbClr val="172C40"/>
                </a:solidFill>
                <a:latin typeface="DejaVu Sans"/>
                <a:ea typeface="DejaVu Sans"/>
                <a:cs typeface="DejaVu Sans"/>
              </a:defRPr>
            </a:lvl1pPr>
            <a:lvl2pPr>
              <a:defRPr sz="1725" b="1">
                <a:solidFill>
                  <a:srgbClr val="172C40"/>
                </a:solidFill>
                <a:latin typeface="DejaVu Sans"/>
                <a:ea typeface="DejaVu Sans"/>
                <a:cs typeface="DejaVu Sans"/>
              </a:defRPr>
            </a:lvl2pPr>
            <a:lvl3pPr>
              <a:defRPr sz="1725" b="1">
                <a:solidFill>
                  <a:srgbClr val="172C40"/>
                </a:solidFill>
                <a:latin typeface="DejaVu Sans"/>
                <a:ea typeface="DejaVu Sans"/>
                <a:cs typeface="DejaVu Sans"/>
              </a:defRPr>
            </a:lvl3pPr>
            <a:lvl4pPr>
              <a:defRPr sz="1725" b="1">
                <a:solidFill>
                  <a:srgbClr val="172C40"/>
                </a:solidFill>
                <a:latin typeface="DejaVu Sans"/>
                <a:ea typeface="DejaVu Sans"/>
                <a:cs typeface="DejaVu Sans"/>
              </a:defRPr>
            </a:lvl4pPr>
            <a:lvl5pPr>
              <a:defRPr sz="1725" b="1">
                <a:solidFill>
                  <a:srgbClr val="172C40"/>
                </a:solidFill>
                <a:latin typeface="DejaVu Sans"/>
                <a:ea typeface="DejaVu Sans"/>
                <a:cs typeface="DejaVu Sans"/>
              </a:defRPr>
            </a:lvl5pPr>
            <a:lvl6pPr>
              <a:defRPr sz="1725" b="1">
                <a:solidFill>
                  <a:srgbClr val="172C40"/>
                </a:solidFill>
                <a:latin typeface="DejaVu Sans"/>
                <a:ea typeface="DejaVu Sans"/>
                <a:cs typeface="DejaVu Sans"/>
              </a:defRPr>
            </a:lvl6pPr>
            <a:lvl7pPr>
              <a:defRPr sz="1725" b="1">
                <a:solidFill>
                  <a:srgbClr val="172C40"/>
                </a:solidFill>
                <a:latin typeface="DejaVu Sans"/>
                <a:ea typeface="DejaVu Sans"/>
                <a:cs typeface="DejaVu Sans"/>
              </a:defRPr>
            </a:lvl7pPr>
            <a:lvl8pPr>
              <a:defRPr sz="1725" b="1">
                <a:solidFill>
                  <a:srgbClr val="172C40"/>
                </a:solidFill>
                <a:latin typeface="DejaVu Sans"/>
                <a:ea typeface="DejaVu Sans"/>
                <a:cs typeface="DejaVu Sans"/>
              </a:defRPr>
            </a:lvl8pPr>
            <a:lvl9pPr>
              <a:defRPr sz="1725" b="1">
                <a:solidFill>
                  <a:srgbClr val="172C40"/>
                </a:solidFill>
                <a:latin typeface="DejaVu Sans"/>
                <a:ea typeface="DejaVu Sans"/>
                <a:cs typeface="DejaVu Sans"/>
              </a:defRPr>
            </a:lvl9pPr>
          </a:lstStyle>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Authoring client</a:t>
            </a:r>
          </a:p>
        </p:txBody>
      </p:sp>
      <p:sp>
        <p:nvSpPr>
          <p:cNvPr id="8" name="">
            <a:extLst xmlns:a="http://schemas.openxmlformats.org/drawingml/2006/main">
              <a:ext uri="{FF2B5EF4-FFF2-40B4-BE49-F238E27FC236}">
                <a16:creationId xmlns:a16="http://schemas.microsoft.com/office/drawing/2014/main" id="{2F548246-72C9-44B4-A7CC-7CECE44EF03F}"/>
              </a:ext>
            </a:extLst>
          </p:cNvPr>
          <p:cNvSpPr>
            <a:spLocks xmlns:a="http://schemas.openxmlformats.org/drawingml/2006/main" noGrp="1"/>
          </p:cNvSpPr>
          <p:nvPr/>
        </p:nvSpPr>
        <p:spPr>
          <a:xfrm xmlns:a="http://schemas.openxmlformats.org/drawingml/2006/main">
            <a:off x="762000" y="26384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72C40"/>
                </a:solidFill>
                <a:latin typeface="DejaVu Sans"/>
                <a:ea typeface="DejaVu Sans"/>
                <a:cs typeface="DejaVu Sans"/>
              </a:defRPr>
            </a:defPPr>
            <a:lvl1pPr>
              <a:defRPr sz="1500" b="0">
                <a:solidFill>
                  <a:srgbClr val="172C40"/>
                </a:solidFill>
                <a:latin typeface="DejaVu Sans"/>
                <a:ea typeface="DejaVu Sans"/>
                <a:cs typeface="DejaVu Sans"/>
              </a:defRPr>
            </a:lvl1pPr>
            <a:lvl2pPr>
              <a:defRPr sz="1500" b="0">
                <a:solidFill>
                  <a:srgbClr val="172C40"/>
                </a:solidFill>
                <a:latin typeface="DejaVu Sans"/>
                <a:ea typeface="DejaVu Sans"/>
                <a:cs typeface="DejaVu Sans"/>
              </a:defRPr>
            </a:lvl2pPr>
            <a:lvl3pPr>
              <a:defRPr sz="1500" b="0">
                <a:solidFill>
                  <a:srgbClr val="172C40"/>
                </a:solidFill>
                <a:latin typeface="DejaVu Sans"/>
                <a:ea typeface="DejaVu Sans"/>
                <a:cs typeface="DejaVu Sans"/>
              </a:defRPr>
            </a:lvl3pPr>
            <a:lvl4pPr>
              <a:defRPr sz="1500" b="0">
                <a:solidFill>
                  <a:srgbClr val="172C40"/>
                </a:solidFill>
                <a:latin typeface="DejaVu Sans"/>
                <a:ea typeface="DejaVu Sans"/>
                <a:cs typeface="DejaVu Sans"/>
              </a:defRPr>
            </a:lvl4pPr>
            <a:lvl5pPr>
              <a:defRPr sz="1500" b="0">
                <a:solidFill>
                  <a:srgbClr val="172C40"/>
                </a:solidFill>
                <a:latin typeface="DejaVu Sans"/>
                <a:ea typeface="DejaVu Sans"/>
                <a:cs typeface="DejaVu Sans"/>
              </a:defRPr>
            </a:lvl5pPr>
            <a:lvl6pPr>
              <a:defRPr sz="1500" b="0">
                <a:solidFill>
                  <a:srgbClr val="172C40"/>
                </a:solidFill>
                <a:latin typeface="DejaVu Sans"/>
                <a:ea typeface="DejaVu Sans"/>
                <a:cs typeface="DejaVu Sans"/>
              </a:defRPr>
            </a:lvl6pPr>
            <a:lvl7pPr>
              <a:defRPr sz="1500" b="0">
                <a:solidFill>
                  <a:srgbClr val="172C40"/>
                </a:solidFill>
                <a:latin typeface="DejaVu Sans"/>
                <a:ea typeface="DejaVu Sans"/>
                <a:cs typeface="DejaVu Sans"/>
              </a:defRPr>
            </a:lvl7pPr>
            <a:lvl8pPr>
              <a:defRPr sz="1500" b="0">
                <a:solidFill>
                  <a:srgbClr val="172C40"/>
                </a:solidFill>
                <a:latin typeface="DejaVu Sans"/>
                <a:ea typeface="DejaVu Sans"/>
                <a:cs typeface="DejaVu Sans"/>
              </a:defRPr>
            </a:lvl8pPr>
            <a:lvl9pPr>
              <a:defRPr sz="1500" b="0">
                <a:solidFill>
                  <a:srgbClr val="172C40"/>
                </a:solidFill>
                <a:latin typeface="DejaVu Sans"/>
                <a:ea typeface="DejaVu Sans"/>
                <a:cs typeface="DejaVu Sans"/>
              </a:defRPr>
            </a:lvl9pPr>
          </a:lstStyle>
          <a:p xmlns:a="http://schemas.openxmlformats.org/drawingml/2006/main">
            <a:pPr>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Story, preferences, status</a:t>
            </a:r>
          </a:p>
          <a:p xmlns:a="http://schemas.openxmlformats.org/drawingml/2006/main">
            <a:pPr>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results and version history</a:t>
            </a:r>
          </a:p>
        </p:txBody>
      </p:sp>
      <p:sp>
        <p:nvSpPr>
          <p:cNvPr id="9" name="">
            <a:extLst xmlns:a="http://schemas.openxmlformats.org/drawingml/2006/main">
              <a:ext uri="{FF2B5EF4-FFF2-40B4-BE49-F238E27FC236}">
                <a16:creationId xmlns:a16="http://schemas.microsoft.com/office/drawing/2014/main" id="{5317D4CC-C044-44AD-8B41-8ABBA92D5770}"/>
              </a:ext>
            </a:extLst>
          </p:cNvPr>
          <p:cNvSpPr>
            <a:spLocks xmlns:a="http://schemas.openxmlformats.org/drawingml/2006/main" noGrp="1"/>
          </p:cNvSpPr>
          <p:nvPr/>
        </p:nvSpPr>
        <p:spPr>
          <a:xfrm xmlns:a="http://schemas.openxmlformats.org/drawingml/2006/main">
            <a:off x="4476750" y="2000250"/>
            <a:ext cx="3238500" cy="1371600"/>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C02C18-EA5D-47F0-9856-DCF889D91A1E}"/>
              </a:ext>
            </a:extLst>
          </p:cNvPr>
          <p:cNvSpPr>
            <a:spLocks xmlns:a="http://schemas.openxmlformats.org/drawingml/2006/main" noGrp="1"/>
          </p:cNvSpPr>
          <p:nvPr/>
        </p:nvSpPr>
        <p:spPr>
          <a:xfrm xmlns:a="http://schemas.openxmlformats.org/drawingml/2006/main">
            <a:off x="4629150" y="2162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defRPr sz="1725" b="1">
                <a:solidFill>
                  <a:srgbClr val="172C40"/>
                </a:solidFill>
                <a:latin typeface="DejaVu Sans"/>
                <a:ea typeface="DejaVu Sans"/>
                <a:cs typeface="DejaVu Sans"/>
              </a:defRPr>
            </a:lvl1pPr>
            <a:lvl2pPr>
              <a:defRPr sz="1725" b="1">
                <a:solidFill>
                  <a:srgbClr val="172C40"/>
                </a:solidFill>
                <a:latin typeface="DejaVu Sans"/>
                <a:ea typeface="DejaVu Sans"/>
                <a:cs typeface="DejaVu Sans"/>
              </a:defRPr>
            </a:lvl2pPr>
            <a:lvl3pPr>
              <a:defRPr sz="1725" b="1">
                <a:solidFill>
                  <a:srgbClr val="172C40"/>
                </a:solidFill>
                <a:latin typeface="DejaVu Sans"/>
                <a:ea typeface="DejaVu Sans"/>
                <a:cs typeface="DejaVu Sans"/>
              </a:defRPr>
            </a:lvl3pPr>
            <a:lvl4pPr>
              <a:defRPr sz="1725" b="1">
                <a:solidFill>
                  <a:srgbClr val="172C40"/>
                </a:solidFill>
                <a:latin typeface="DejaVu Sans"/>
                <a:ea typeface="DejaVu Sans"/>
                <a:cs typeface="DejaVu Sans"/>
              </a:defRPr>
            </a:lvl4pPr>
            <a:lvl5pPr>
              <a:defRPr sz="1725" b="1">
                <a:solidFill>
                  <a:srgbClr val="172C40"/>
                </a:solidFill>
                <a:latin typeface="DejaVu Sans"/>
                <a:ea typeface="DejaVu Sans"/>
                <a:cs typeface="DejaVu Sans"/>
              </a:defRPr>
            </a:lvl5pPr>
            <a:lvl6pPr>
              <a:defRPr sz="1725" b="1">
                <a:solidFill>
                  <a:srgbClr val="172C40"/>
                </a:solidFill>
                <a:latin typeface="DejaVu Sans"/>
                <a:ea typeface="DejaVu Sans"/>
                <a:cs typeface="DejaVu Sans"/>
              </a:defRPr>
            </a:lvl6pPr>
            <a:lvl7pPr>
              <a:defRPr sz="1725" b="1">
                <a:solidFill>
                  <a:srgbClr val="172C40"/>
                </a:solidFill>
                <a:latin typeface="DejaVu Sans"/>
                <a:ea typeface="DejaVu Sans"/>
                <a:cs typeface="DejaVu Sans"/>
              </a:defRPr>
            </a:lvl7pPr>
            <a:lvl8pPr>
              <a:defRPr sz="1725" b="1">
                <a:solidFill>
                  <a:srgbClr val="172C40"/>
                </a:solidFill>
                <a:latin typeface="DejaVu Sans"/>
                <a:ea typeface="DejaVu Sans"/>
                <a:cs typeface="DejaVu Sans"/>
              </a:defRPr>
            </a:lvl8pPr>
            <a:lvl9pPr>
              <a:defRPr sz="1725" b="1">
                <a:solidFill>
                  <a:srgbClr val="172C40"/>
                </a:solidFill>
                <a:latin typeface="DejaVu Sans"/>
                <a:ea typeface="DejaVu Sans"/>
                <a:cs typeface="DejaVu Sans"/>
              </a:defRPr>
            </a:lvl9pPr>
          </a:lstStyle>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Platform API and jobs</a:t>
            </a:r>
          </a:p>
        </p:txBody>
      </p:sp>
      <p:sp>
        <p:nvSpPr>
          <p:cNvPr id="11" name="">
            <a:extLst xmlns:a="http://schemas.openxmlformats.org/drawingml/2006/main">
              <a:ext uri="{FF2B5EF4-FFF2-40B4-BE49-F238E27FC236}">
                <a16:creationId xmlns:a16="http://schemas.microsoft.com/office/drawing/2014/main" id="{F691783C-F233-4E2F-B9AD-A92AF69A8908}"/>
              </a:ext>
            </a:extLst>
          </p:cNvPr>
          <p:cNvSpPr>
            <a:spLocks xmlns:a="http://schemas.openxmlformats.org/drawingml/2006/main" noGrp="1"/>
          </p:cNvSpPr>
          <p:nvPr/>
        </p:nvSpPr>
        <p:spPr>
          <a:xfrm xmlns:a="http://schemas.openxmlformats.org/drawingml/2006/main">
            <a:off x="4629150" y="26384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72C40"/>
                </a:solidFill>
                <a:latin typeface="DejaVu Sans"/>
                <a:ea typeface="DejaVu Sans"/>
                <a:cs typeface="DejaVu Sans"/>
              </a:defRPr>
            </a:defPPr>
            <a:lvl1pPr>
              <a:defRPr sz="1500" b="0">
                <a:solidFill>
                  <a:srgbClr val="172C40"/>
                </a:solidFill>
                <a:latin typeface="DejaVu Sans"/>
                <a:ea typeface="DejaVu Sans"/>
                <a:cs typeface="DejaVu Sans"/>
              </a:defRPr>
            </a:lvl1pPr>
            <a:lvl2pPr>
              <a:defRPr sz="1500" b="0">
                <a:solidFill>
                  <a:srgbClr val="172C40"/>
                </a:solidFill>
                <a:latin typeface="DejaVu Sans"/>
                <a:ea typeface="DejaVu Sans"/>
                <a:cs typeface="DejaVu Sans"/>
              </a:defRPr>
            </a:lvl2pPr>
            <a:lvl3pPr>
              <a:defRPr sz="1500" b="0">
                <a:solidFill>
                  <a:srgbClr val="172C40"/>
                </a:solidFill>
                <a:latin typeface="DejaVu Sans"/>
                <a:ea typeface="DejaVu Sans"/>
                <a:cs typeface="DejaVu Sans"/>
              </a:defRPr>
            </a:lvl3pPr>
            <a:lvl4pPr>
              <a:defRPr sz="1500" b="0">
                <a:solidFill>
                  <a:srgbClr val="172C40"/>
                </a:solidFill>
                <a:latin typeface="DejaVu Sans"/>
                <a:ea typeface="DejaVu Sans"/>
                <a:cs typeface="DejaVu Sans"/>
              </a:defRPr>
            </a:lvl4pPr>
            <a:lvl5pPr>
              <a:defRPr sz="1500" b="0">
                <a:solidFill>
                  <a:srgbClr val="172C40"/>
                </a:solidFill>
                <a:latin typeface="DejaVu Sans"/>
                <a:ea typeface="DejaVu Sans"/>
                <a:cs typeface="DejaVu Sans"/>
              </a:defRPr>
            </a:lvl5pPr>
            <a:lvl6pPr>
              <a:defRPr sz="1500" b="0">
                <a:solidFill>
                  <a:srgbClr val="172C40"/>
                </a:solidFill>
                <a:latin typeface="DejaVu Sans"/>
                <a:ea typeface="DejaVu Sans"/>
                <a:cs typeface="DejaVu Sans"/>
              </a:defRPr>
            </a:lvl6pPr>
            <a:lvl7pPr>
              <a:defRPr sz="1500" b="0">
                <a:solidFill>
                  <a:srgbClr val="172C40"/>
                </a:solidFill>
                <a:latin typeface="DejaVu Sans"/>
                <a:ea typeface="DejaVu Sans"/>
                <a:cs typeface="DejaVu Sans"/>
              </a:defRPr>
            </a:lvl7pPr>
            <a:lvl8pPr>
              <a:defRPr sz="1500" b="0">
                <a:solidFill>
                  <a:srgbClr val="172C40"/>
                </a:solidFill>
                <a:latin typeface="DejaVu Sans"/>
                <a:ea typeface="DejaVu Sans"/>
                <a:cs typeface="DejaVu Sans"/>
              </a:defRPr>
            </a:lvl8pPr>
            <a:lvl9pPr>
              <a:defRPr sz="1500" b="0">
                <a:solidFill>
                  <a:srgbClr val="172C40"/>
                </a:solidFill>
                <a:latin typeface="DejaVu Sans"/>
                <a:ea typeface="DejaVu Sans"/>
                <a:cs typeface="DejaVu Sans"/>
              </a:defRPr>
            </a:lvl9pPr>
          </a:lstStyle>
          <a:p xmlns:a="http://schemas.openxmlformats.org/drawingml/2006/main">
            <a:pPr>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Project/version records</a:t>
            </a:r>
          </a:p>
          <a:p xmlns:a="http://schemas.openxmlformats.org/drawingml/2006/main">
            <a:pPr>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queue and artifact delivery</a:t>
            </a:r>
          </a:p>
        </p:txBody>
      </p:sp>
      <p:sp>
        <p:nvSpPr>
          <p:cNvPr id="12" name="">
            <a:extLst xmlns:a="http://schemas.openxmlformats.org/drawingml/2006/main">
              <a:ext uri="{FF2B5EF4-FFF2-40B4-BE49-F238E27FC236}">
                <a16:creationId xmlns:a16="http://schemas.microsoft.com/office/drawing/2014/main" id="{44792F41-7981-4700-B493-8B9DD40D09D0}"/>
              </a:ext>
            </a:extLst>
          </p:cNvPr>
          <p:cNvSpPr>
            <a:spLocks xmlns:a="http://schemas.openxmlformats.org/drawingml/2006/main" noGrp="1"/>
          </p:cNvSpPr>
          <p:nvPr/>
        </p:nvSpPr>
        <p:spPr>
          <a:xfrm xmlns:a="http://schemas.openxmlformats.org/drawingml/2006/main">
            <a:off x="8343900" y="2000250"/>
            <a:ext cx="3238500" cy="1371600"/>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9796C3-39C3-40CA-BEBD-37E31AEE97D3}"/>
              </a:ext>
            </a:extLst>
          </p:cNvPr>
          <p:cNvSpPr>
            <a:spLocks xmlns:a="http://schemas.openxmlformats.org/drawingml/2006/main" noGrp="1"/>
          </p:cNvSpPr>
          <p:nvPr/>
        </p:nvSpPr>
        <p:spPr>
          <a:xfrm xmlns:a="http://schemas.openxmlformats.org/drawingml/2006/main">
            <a:off x="8496300" y="2162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defRPr sz="1725" b="1">
                <a:solidFill>
                  <a:srgbClr val="172C40"/>
                </a:solidFill>
                <a:latin typeface="DejaVu Sans"/>
                <a:ea typeface="DejaVu Sans"/>
                <a:cs typeface="DejaVu Sans"/>
              </a:defRPr>
            </a:lvl1pPr>
            <a:lvl2pPr>
              <a:defRPr sz="1725" b="1">
                <a:solidFill>
                  <a:srgbClr val="172C40"/>
                </a:solidFill>
                <a:latin typeface="DejaVu Sans"/>
                <a:ea typeface="DejaVu Sans"/>
                <a:cs typeface="DejaVu Sans"/>
              </a:defRPr>
            </a:lvl2pPr>
            <a:lvl3pPr>
              <a:defRPr sz="1725" b="1">
                <a:solidFill>
                  <a:srgbClr val="172C40"/>
                </a:solidFill>
                <a:latin typeface="DejaVu Sans"/>
                <a:ea typeface="DejaVu Sans"/>
                <a:cs typeface="DejaVu Sans"/>
              </a:defRPr>
            </a:lvl3pPr>
            <a:lvl4pPr>
              <a:defRPr sz="1725" b="1">
                <a:solidFill>
                  <a:srgbClr val="172C40"/>
                </a:solidFill>
                <a:latin typeface="DejaVu Sans"/>
                <a:ea typeface="DejaVu Sans"/>
                <a:cs typeface="DejaVu Sans"/>
              </a:defRPr>
            </a:lvl4pPr>
            <a:lvl5pPr>
              <a:defRPr sz="1725" b="1">
                <a:solidFill>
                  <a:srgbClr val="172C40"/>
                </a:solidFill>
                <a:latin typeface="DejaVu Sans"/>
                <a:ea typeface="DejaVu Sans"/>
                <a:cs typeface="DejaVu Sans"/>
              </a:defRPr>
            </a:lvl5pPr>
            <a:lvl6pPr>
              <a:defRPr sz="1725" b="1">
                <a:solidFill>
                  <a:srgbClr val="172C40"/>
                </a:solidFill>
                <a:latin typeface="DejaVu Sans"/>
                <a:ea typeface="DejaVu Sans"/>
                <a:cs typeface="DejaVu Sans"/>
              </a:defRPr>
            </a:lvl6pPr>
            <a:lvl7pPr>
              <a:defRPr sz="1725" b="1">
                <a:solidFill>
                  <a:srgbClr val="172C40"/>
                </a:solidFill>
                <a:latin typeface="DejaVu Sans"/>
                <a:ea typeface="DejaVu Sans"/>
                <a:cs typeface="DejaVu Sans"/>
              </a:defRPr>
            </a:lvl7pPr>
            <a:lvl8pPr>
              <a:defRPr sz="1725" b="1">
                <a:solidFill>
                  <a:srgbClr val="172C40"/>
                </a:solidFill>
                <a:latin typeface="DejaVu Sans"/>
                <a:ea typeface="DejaVu Sans"/>
                <a:cs typeface="DejaVu Sans"/>
              </a:defRPr>
            </a:lvl8pPr>
            <a:lvl9pPr>
              <a:defRPr sz="1725" b="1">
                <a:solidFill>
                  <a:srgbClr val="172C40"/>
                </a:solidFill>
                <a:latin typeface="DejaVu Sans"/>
                <a:ea typeface="DejaVu Sans"/>
                <a:cs typeface="DejaVu Sans"/>
              </a:defRPr>
            </a:lvl9pPr>
          </a:lstStyle>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Generation worker</a:t>
            </a:r>
          </a:p>
        </p:txBody>
      </p:sp>
      <p:sp>
        <p:nvSpPr>
          <p:cNvPr id="14" name="">
            <a:extLst xmlns:a="http://schemas.openxmlformats.org/drawingml/2006/main">
              <a:ext uri="{FF2B5EF4-FFF2-40B4-BE49-F238E27FC236}">
                <a16:creationId xmlns:a16="http://schemas.microsoft.com/office/drawing/2014/main" id="{CF108FB2-ECD7-4D96-98E7-E15D1E848807}"/>
              </a:ext>
            </a:extLst>
          </p:cNvPr>
          <p:cNvSpPr>
            <a:spLocks xmlns:a="http://schemas.openxmlformats.org/drawingml/2006/main" noGrp="1"/>
          </p:cNvSpPr>
          <p:nvPr/>
        </p:nvSpPr>
        <p:spPr>
          <a:xfrm xmlns:a="http://schemas.openxmlformats.org/drawingml/2006/main">
            <a:off x="8496300" y="26384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72C40"/>
                </a:solidFill>
                <a:latin typeface="DejaVu Sans"/>
                <a:ea typeface="DejaVu Sans"/>
                <a:cs typeface="DejaVu Sans"/>
              </a:defRPr>
            </a:defPPr>
            <a:lvl1pPr>
              <a:defRPr sz="1500" b="0">
                <a:solidFill>
                  <a:srgbClr val="172C40"/>
                </a:solidFill>
                <a:latin typeface="DejaVu Sans"/>
                <a:ea typeface="DejaVu Sans"/>
                <a:cs typeface="DejaVu Sans"/>
              </a:defRPr>
            </a:lvl1pPr>
            <a:lvl2pPr>
              <a:defRPr sz="1500" b="0">
                <a:solidFill>
                  <a:srgbClr val="172C40"/>
                </a:solidFill>
                <a:latin typeface="DejaVu Sans"/>
                <a:ea typeface="DejaVu Sans"/>
                <a:cs typeface="DejaVu Sans"/>
              </a:defRPr>
            </a:lvl2pPr>
            <a:lvl3pPr>
              <a:defRPr sz="1500" b="0">
                <a:solidFill>
                  <a:srgbClr val="172C40"/>
                </a:solidFill>
                <a:latin typeface="DejaVu Sans"/>
                <a:ea typeface="DejaVu Sans"/>
                <a:cs typeface="DejaVu Sans"/>
              </a:defRPr>
            </a:lvl3pPr>
            <a:lvl4pPr>
              <a:defRPr sz="1500" b="0">
                <a:solidFill>
                  <a:srgbClr val="172C40"/>
                </a:solidFill>
                <a:latin typeface="DejaVu Sans"/>
                <a:ea typeface="DejaVu Sans"/>
                <a:cs typeface="DejaVu Sans"/>
              </a:defRPr>
            </a:lvl4pPr>
            <a:lvl5pPr>
              <a:defRPr sz="1500" b="0">
                <a:solidFill>
                  <a:srgbClr val="172C40"/>
                </a:solidFill>
                <a:latin typeface="DejaVu Sans"/>
                <a:ea typeface="DejaVu Sans"/>
                <a:cs typeface="DejaVu Sans"/>
              </a:defRPr>
            </a:lvl5pPr>
            <a:lvl6pPr>
              <a:defRPr sz="1500" b="0">
                <a:solidFill>
                  <a:srgbClr val="172C40"/>
                </a:solidFill>
                <a:latin typeface="DejaVu Sans"/>
                <a:ea typeface="DejaVu Sans"/>
                <a:cs typeface="DejaVu Sans"/>
              </a:defRPr>
            </a:lvl6pPr>
            <a:lvl7pPr>
              <a:defRPr sz="1500" b="0">
                <a:solidFill>
                  <a:srgbClr val="172C40"/>
                </a:solidFill>
                <a:latin typeface="DejaVu Sans"/>
                <a:ea typeface="DejaVu Sans"/>
                <a:cs typeface="DejaVu Sans"/>
              </a:defRPr>
            </a:lvl7pPr>
            <a:lvl8pPr>
              <a:defRPr sz="1500" b="0">
                <a:solidFill>
                  <a:srgbClr val="172C40"/>
                </a:solidFill>
                <a:latin typeface="DejaVu Sans"/>
                <a:ea typeface="DejaVu Sans"/>
                <a:cs typeface="DejaVu Sans"/>
              </a:defRPr>
            </a:lvl8pPr>
            <a:lvl9pPr>
              <a:defRPr sz="1500" b="0">
                <a:solidFill>
                  <a:srgbClr val="172C40"/>
                </a:solidFill>
                <a:latin typeface="DejaVu Sans"/>
                <a:ea typeface="DejaVu Sans"/>
                <a:cs typeface="DejaVu Sans"/>
              </a:defRPr>
            </a:lvl9pPr>
          </a:lstStyle>
          <a:p xmlns:a="http://schemas.openxmlformats.org/drawingml/2006/main">
            <a:pPr>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Intent and specification</a:t>
            </a:r>
          </a:p>
          <a:p xmlns:a="http://schemas.openxmlformats.org/drawingml/2006/main">
            <a:pPr>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validation and bounded repair</a:t>
            </a:r>
          </a:p>
        </p:txBody>
      </p:sp>
      <p:sp>
        <p:nvSpPr>
          <p:cNvPr id="15" name="">
            <a:extLst xmlns:a="http://schemas.openxmlformats.org/drawingml/2006/main">
              <a:ext uri="{FF2B5EF4-FFF2-40B4-BE49-F238E27FC236}">
                <a16:creationId xmlns:a16="http://schemas.microsoft.com/office/drawing/2014/main" id="{A4DCEC99-77BF-44CC-95CA-A4E914E7B0FC}"/>
              </a:ext>
            </a:extLst>
          </p:cNvPr>
          <p:cNvSpPr>
            <a:spLocks xmlns:a="http://schemas.openxmlformats.org/drawingml/2006/main" noGrp="1"/>
          </p:cNvSpPr>
          <p:nvPr/>
        </p:nvSpPr>
        <p:spPr>
          <a:xfrm xmlns:a="http://schemas.openxmlformats.org/drawingml/2006/main">
            <a:off x="3848100" y="2647950"/>
            <a:ext cx="628650" cy="2857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FBFB53-CE9D-4708-B102-CFCAD4FD5D77}"/>
              </a:ext>
            </a:extLst>
          </p:cNvPr>
          <p:cNvSpPr>
            <a:spLocks xmlns:a="http://schemas.openxmlformats.org/drawingml/2006/main" noGrp="1"/>
          </p:cNvSpPr>
          <p:nvPr/>
        </p:nvSpPr>
        <p:spPr>
          <a:xfrm xmlns:a="http://schemas.openxmlformats.org/drawingml/2006/main">
            <a:off x="7715250" y="2647950"/>
            <a:ext cx="628650" cy="2857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08C2F6B-CFA5-44ED-BEAB-6F3F46B6ED77}"/>
              </a:ext>
            </a:extLst>
          </p:cNvPr>
          <p:cNvSpPr>
            <a:spLocks xmlns:a="http://schemas.openxmlformats.org/drawingml/2006/main" noGrp="1"/>
          </p:cNvSpPr>
          <p:nvPr/>
        </p:nvSpPr>
        <p:spPr>
          <a:xfrm xmlns:a="http://schemas.openxmlformats.org/drawingml/2006/main">
            <a:off x="4086225" y="35528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E6478"/>
                </a:solidFill>
                <a:latin typeface="DejaVu Sans"/>
                <a:ea typeface="DejaVu Sans"/>
                <a:cs typeface="DejaVu Sans"/>
              </a:defRPr>
            </a:defPPr>
            <a:lvl1pPr>
              <a:defRPr sz="1650" b="1">
                <a:solidFill>
                  <a:srgbClr val="2E6478"/>
                </a:solidFill>
                <a:latin typeface="DejaVu Sans"/>
                <a:ea typeface="DejaVu Sans"/>
                <a:cs typeface="DejaVu Sans"/>
              </a:defRPr>
            </a:lvl1pPr>
            <a:lvl2pPr>
              <a:defRPr sz="1650" b="1">
                <a:solidFill>
                  <a:srgbClr val="2E6478"/>
                </a:solidFill>
                <a:latin typeface="DejaVu Sans"/>
                <a:ea typeface="DejaVu Sans"/>
                <a:cs typeface="DejaVu Sans"/>
              </a:defRPr>
            </a:lvl2pPr>
            <a:lvl3pPr>
              <a:defRPr sz="1650" b="1">
                <a:solidFill>
                  <a:srgbClr val="2E6478"/>
                </a:solidFill>
                <a:latin typeface="DejaVu Sans"/>
                <a:ea typeface="DejaVu Sans"/>
                <a:cs typeface="DejaVu Sans"/>
              </a:defRPr>
            </a:lvl3pPr>
            <a:lvl4pPr>
              <a:defRPr sz="1650" b="1">
                <a:solidFill>
                  <a:srgbClr val="2E6478"/>
                </a:solidFill>
                <a:latin typeface="DejaVu Sans"/>
                <a:ea typeface="DejaVu Sans"/>
                <a:cs typeface="DejaVu Sans"/>
              </a:defRPr>
            </a:lvl4pPr>
            <a:lvl5pPr>
              <a:defRPr sz="1650" b="1">
                <a:solidFill>
                  <a:srgbClr val="2E6478"/>
                </a:solidFill>
                <a:latin typeface="DejaVu Sans"/>
                <a:ea typeface="DejaVu Sans"/>
                <a:cs typeface="DejaVu Sans"/>
              </a:defRPr>
            </a:lvl5pPr>
            <a:lvl6pPr>
              <a:defRPr sz="1650" b="1">
                <a:solidFill>
                  <a:srgbClr val="2E6478"/>
                </a:solidFill>
                <a:latin typeface="DejaVu Sans"/>
                <a:ea typeface="DejaVu Sans"/>
                <a:cs typeface="DejaVu Sans"/>
              </a:defRPr>
            </a:lvl6pPr>
            <a:lvl7pPr>
              <a:defRPr sz="1650" b="1">
                <a:solidFill>
                  <a:srgbClr val="2E6478"/>
                </a:solidFill>
                <a:latin typeface="DejaVu Sans"/>
                <a:ea typeface="DejaVu Sans"/>
                <a:cs typeface="DejaVu Sans"/>
              </a:defRPr>
            </a:lvl7pPr>
            <a:lvl8pPr>
              <a:defRPr sz="1650" b="1">
                <a:solidFill>
                  <a:srgbClr val="2E6478"/>
                </a:solidFill>
                <a:latin typeface="DejaVu Sans"/>
                <a:ea typeface="DejaVu Sans"/>
                <a:cs typeface="DejaVu Sans"/>
              </a:defRPr>
            </a:lvl8pPr>
            <a:lvl9pPr>
              <a:defRPr sz="1650" b="1">
                <a:solidFill>
                  <a:srgbClr val="2E6478"/>
                </a:solidFill>
                <a:latin typeface="DejaVu Sans"/>
                <a:ea typeface="DejaVu Sans"/>
                <a:cs typeface="DejaVu Sans"/>
              </a:defRPr>
            </a:lvl9pPr>
          </a:lstStyle>
          <a:p xmlns:a="http://schemas.openxmlformats.org/drawingml/2006/main">
            <a:pPr>
              <a:defRPr sz="1650" b="1">
                <a:solidFill>
                  <a:srgbClr val="2E6478"/>
                </a:solidFill>
                <a:latin typeface="DejaVu Sans"/>
                <a:ea typeface="DejaVu Sans"/>
                <a:cs typeface="DejaVu Sans"/>
              </a:defRPr>
            </a:pPr>
            <a:r>
              <a:rPr sz="1650" b="1">
                <a:solidFill>
                  <a:srgbClr val="2E6478"/>
                </a:solidFill>
                <a:latin typeface="DejaVu Sans"/>
                <a:ea typeface="DejaVu Sans"/>
                <a:cs typeface="DejaVu Sans"/>
              </a:rPr>
              <a:t>Versioned game data and status</a:t>
            </a:r>
          </a:p>
        </p:txBody>
      </p:sp>
      <p:sp>
        <p:nvSpPr>
          <p:cNvPr id="18" name="">
            <a:extLst xmlns:a="http://schemas.openxmlformats.org/drawingml/2006/main">
              <a:ext uri="{FF2B5EF4-FFF2-40B4-BE49-F238E27FC236}">
                <a16:creationId xmlns:a16="http://schemas.microsoft.com/office/drawing/2014/main" id="{BED14C17-ED47-4970-A351-EFF4D475FB1E}"/>
              </a:ext>
            </a:extLst>
          </p:cNvPr>
          <p:cNvSpPr>
            <a:spLocks xmlns:a="http://schemas.openxmlformats.org/drawingml/2006/main" noGrp="1"/>
          </p:cNvSpPr>
          <p:nvPr/>
        </p:nvSpPr>
        <p:spPr>
          <a:xfrm xmlns:a="http://schemas.openxmlformats.org/drawingml/2006/main">
            <a:off x="609600" y="4191000"/>
            <a:ext cx="10972800" cy="11906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EF70BA-023F-445A-85D2-7482465F6FCC}"/>
              </a:ext>
            </a:extLst>
          </p:cNvPr>
          <p:cNvSpPr>
            <a:spLocks xmlns:a="http://schemas.openxmlformats.org/drawingml/2006/main" noGrp="1"/>
          </p:cNvSpPr>
          <p:nvPr/>
        </p:nvSpPr>
        <p:spPr>
          <a:xfrm xmlns:a="http://schemas.openxmlformats.org/drawingml/2006/main">
            <a:off x="781050" y="43243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C40"/>
                </a:solidFill>
                <a:latin typeface="DejaVu Sans"/>
                <a:ea typeface="DejaVu Sans"/>
                <a:cs typeface="DejaVu Sans"/>
              </a:defRPr>
            </a:defPPr>
            <a:lvl1pPr>
              <a:defRPr sz="1875" b="1">
                <a:solidFill>
                  <a:srgbClr val="172C40"/>
                </a:solidFill>
                <a:latin typeface="DejaVu Sans"/>
                <a:ea typeface="DejaVu Sans"/>
                <a:cs typeface="DejaVu Sans"/>
              </a:defRPr>
            </a:lvl1pPr>
            <a:lvl2pPr>
              <a:defRPr sz="1875" b="1">
                <a:solidFill>
                  <a:srgbClr val="172C40"/>
                </a:solidFill>
                <a:latin typeface="DejaVu Sans"/>
                <a:ea typeface="DejaVu Sans"/>
                <a:cs typeface="DejaVu Sans"/>
              </a:defRPr>
            </a:lvl2pPr>
            <a:lvl3pPr>
              <a:defRPr sz="1875" b="1">
                <a:solidFill>
                  <a:srgbClr val="172C40"/>
                </a:solidFill>
                <a:latin typeface="DejaVu Sans"/>
                <a:ea typeface="DejaVu Sans"/>
                <a:cs typeface="DejaVu Sans"/>
              </a:defRPr>
            </a:lvl3pPr>
            <a:lvl4pPr>
              <a:defRPr sz="1875" b="1">
                <a:solidFill>
                  <a:srgbClr val="172C40"/>
                </a:solidFill>
                <a:latin typeface="DejaVu Sans"/>
                <a:ea typeface="DejaVu Sans"/>
                <a:cs typeface="DejaVu Sans"/>
              </a:defRPr>
            </a:lvl4pPr>
            <a:lvl5pPr>
              <a:defRPr sz="1875" b="1">
                <a:solidFill>
                  <a:srgbClr val="172C40"/>
                </a:solidFill>
                <a:latin typeface="DejaVu Sans"/>
                <a:ea typeface="DejaVu Sans"/>
                <a:cs typeface="DejaVu Sans"/>
              </a:defRPr>
            </a:lvl5pPr>
            <a:lvl6pPr>
              <a:defRPr sz="1875" b="1">
                <a:solidFill>
                  <a:srgbClr val="172C40"/>
                </a:solidFill>
                <a:latin typeface="DejaVu Sans"/>
                <a:ea typeface="DejaVu Sans"/>
                <a:cs typeface="DejaVu Sans"/>
              </a:defRPr>
            </a:lvl6pPr>
            <a:lvl7pPr>
              <a:defRPr sz="1875" b="1">
                <a:solidFill>
                  <a:srgbClr val="172C40"/>
                </a:solidFill>
                <a:latin typeface="DejaVu Sans"/>
                <a:ea typeface="DejaVu Sans"/>
                <a:cs typeface="DejaVu Sans"/>
              </a:defRPr>
            </a:lvl7pPr>
            <a:lvl8pPr>
              <a:defRPr sz="1875" b="1">
                <a:solidFill>
                  <a:srgbClr val="172C40"/>
                </a:solidFill>
                <a:latin typeface="DejaVu Sans"/>
                <a:ea typeface="DejaVu Sans"/>
                <a:cs typeface="DejaVu Sans"/>
              </a:defRPr>
            </a:lvl8pPr>
            <a:lvl9pPr>
              <a:defRPr sz="1875" b="1">
                <a:solidFill>
                  <a:srgbClr val="172C40"/>
                </a:solidFill>
                <a:latin typeface="DejaVu Sans"/>
                <a:ea typeface="DejaVu Sans"/>
                <a:cs typeface="DejaVu Sans"/>
              </a:defRPr>
            </a:lvl9pPr>
          </a:lstStyle>
          <a:p xmlns:a="http://schemas.openxmlformats.org/drawingml/2006/main">
            <a:pPr>
              <a:defRPr sz="1875" b="1">
                <a:solidFill>
                  <a:srgbClr val="172C40"/>
                </a:solidFill>
                <a:latin typeface="DejaVu Sans"/>
                <a:ea typeface="DejaVu Sans"/>
                <a:cs typeface="DejaVu Sans"/>
              </a:defRPr>
            </a:pPr>
            <a:r>
              <a:rPr sz="1875" b="1">
                <a:solidFill>
                  <a:srgbClr val="172C40"/>
                </a:solidFill>
                <a:latin typeface="DejaVu Sans"/>
                <a:ea typeface="DejaVu Sans"/>
                <a:cs typeface="DejaVu Sans"/>
              </a:rPr>
              <a:t>Trusted 2D browser runtime</a:t>
            </a:r>
          </a:p>
        </p:txBody>
      </p:sp>
      <p:sp>
        <p:nvSpPr>
          <p:cNvPr id="20" name="">
            <a:extLst xmlns:a="http://schemas.openxmlformats.org/drawingml/2006/main">
              <a:ext uri="{FF2B5EF4-FFF2-40B4-BE49-F238E27FC236}">
                <a16:creationId xmlns:a16="http://schemas.microsoft.com/office/drawing/2014/main" id="{68F07A6F-80A0-487E-8B08-F44C6DE219E1}"/>
              </a:ext>
            </a:extLst>
          </p:cNvPr>
          <p:cNvSpPr>
            <a:spLocks xmlns:a="http://schemas.openxmlformats.org/drawingml/2006/main" noGrp="1"/>
          </p:cNvSpPr>
          <p:nvPr/>
        </p:nvSpPr>
        <p:spPr>
          <a:xfrm xmlns:a="http://schemas.openxmlformats.org/drawingml/2006/main">
            <a:off x="781050" y="4781550"/>
            <a:ext cx="10629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C40"/>
                </a:solidFill>
                <a:latin typeface="DejaVu Sans"/>
                <a:ea typeface="DejaVu Sans"/>
                <a:cs typeface="DejaVu Sans"/>
              </a:defRPr>
            </a:defPPr>
            <a:lvl1pPr>
              <a:defRPr sz="1800" b="0">
                <a:solidFill>
                  <a:srgbClr val="172C40"/>
                </a:solidFill>
                <a:latin typeface="DejaVu Sans"/>
                <a:ea typeface="DejaVu Sans"/>
                <a:cs typeface="DejaVu Sans"/>
              </a:defRPr>
            </a:lvl1pPr>
            <a:lvl2pPr>
              <a:defRPr sz="1800" b="0">
                <a:solidFill>
                  <a:srgbClr val="172C40"/>
                </a:solidFill>
                <a:latin typeface="DejaVu Sans"/>
                <a:ea typeface="DejaVu Sans"/>
                <a:cs typeface="DejaVu Sans"/>
              </a:defRPr>
            </a:lvl2pPr>
            <a:lvl3pPr>
              <a:defRPr sz="1800" b="0">
                <a:solidFill>
                  <a:srgbClr val="172C40"/>
                </a:solidFill>
                <a:latin typeface="DejaVu Sans"/>
                <a:ea typeface="DejaVu Sans"/>
                <a:cs typeface="DejaVu Sans"/>
              </a:defRPr>
            </a:lvl3pPr>
            <a:lvl4pPr>
              <a:defRPr sz="1800" b="0">
                <a:solidFill>
                  <a:srgbClr val="172C40"/>
                </a:solidFill>
                <a:latin typeface="DejaVu Sans"/>
                <a:ea typeface="DejaVu Sans"/>
                <a:cs typeface="DejaVu Sans"/>
              </a:defRPr>
            </a:lvl4pPr>
            <a:lvl5pPr>
              <a:defRPr sz="1800" b="0">
                <a:solidFill>
                  <a:srgbClr val="172C40"/>
                </a:solidFill>
                <a:latin typeface="DejaVu Sans"/>
                <a:ea typeface="DejaVu Sans"/>
                <a:cs typeface="DejaVu Sans"/>
              </a:defRPr>
            </a:lvl5pPr>
            <a:lvl6pPr>
              <a:defRPr sz="1800" b="0">
                <a:solidFill>
                  <a:srgbClr val="172C40"/>
                </a:solidFill>
                <a:latin typeface="DejaVu Sans"/>
                <a:ea typeface="DejaVu Sans"/>
                <a:cs typeface="DejaVu Sans"/>
              </a:defRPr>
            </a:lvl6pPr>
            <a:lvl7pPr>
              <a:defRPr sz="1800" b="0">
                <a:solidFill>
                  <a:srgbClr val="172C40"/>
                </a:solidFill>
                <a:latin typeface="DejaVu Sans"/>
                <a:ea typeface="DejaVu Sans"/>
                <a:cs typeface="DejaVu Sans"/>
              </a:defRPr>
            </a:lvl7pPr>
            <a:lvl8pPr>
              <a:defRPr sz="1800" b="0">
                <a:solidFill>
                  <a:srgbClr val="172C40"/>
                </a:solidFill>
                <a:latin typeface="DejaVu Sans"/>
                <a:ea typeface="DejaVu Sans"/>
                <a:cs typeface="DejaVu Sans"/>
              </a:defRPr>
            </a:lvl8pPr>
            <a:lvl9pPr>
              <a:defRPr sz="1800" b="0">
                <a:solidFill>
                  <a:srgbClr val="172C40"/>
                </a:solidFill>
                <a:latin typeface="DejaVu Sans"/>
                <a:ea typeface="DejaVu Sans"/>
                <a:cs typeface="DejaVu Sans"/>
              </a:defRPr>
            </a:lvl9pPr>
          </a:lstStyle>
          <a:p xmlns:a="http://schemas.openxmlformats.org/drawingml/2006/main">
            <a:pPr>
              <a:defRPr sz="1800" b="0">
                <a:solidFill>
                  <a:srgbClr val="172C40"/>
                </a:solidFill>
                <a:latin typeface="DejaVu Sans"/>
                <a:ea typeface="DejaVu Sans"/>
                <a:cs typeface="DejaVu Sans"/>
              </a:defRPr>
            </a:pPr>
            <a:r>
              <a:rPr sz="1800" b="0">
                <a:solidFill>
                  <a:srgbClr val="172C40"/>
                </a:solidFill>
                <a:latin typeface="DejaVu Sans"/>
                <a:ea typeface="DejaVu Sans"/>
                <a:cs typeface="DejaVu Sans"/>
              </a:rPr>
              <a:t>Loads a validated version, applies allowed actions and reports progress and ending.</a:t>
            </a:r>
          </a:p>
        </p:txBody>
      </p:sp>
    </p:spTree>
    <p:extLst>
      <p:ext uri="{BB962C8B-B14F-4D97-AF65-F5344CB8AC3E}">
        <p14:creationId xmlns:p14="http://schemas.microsoft.com/office/powerpoint/2010/main" val="1365295978"/>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8C418D-C04D-4D9C-A804-F44FC0CC7D35}"/>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491B85-4927-4F16-9B98-C5F319B37C55}"/>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A conceptual journey supports author review</a:t>
            </a:r>
          </a:p>
        </p:txBody>
      </p:sp>
      <p:sp>
        <p:nvSpPr>
          <p:cNvPr id="3" name="">
            <a:extLst xmlns:a="http://schemas.openxmlformats.org/drawingml/2006/main">
              <a:ext uri="{FF2B5EF4-FFF2-40B4-BE49-F238E27FC236}">
                <a16:creationId xmlns:a16="http://schemas.microsoft.com/office/drawing/2014/main" id="{B5F80692-9AF4-4D39-9910-0EBDD24AA018}"/>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62E59B-C6FC-46D4-B4B9-86D9436FB0FE}"/>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8 UX concept · prototype/README.md · prototype/*.svg</a:t>
            </a:r>
          </a:p>
        </p:txBody>
      </p:sp>
      <p:sp>
        <p:nvSpPr>
          <p:cNvPr id="5" name="">
            <a:extLst xmlns:a="http://schemas.openxmlformats.org/drawingml/2006/main">
              <a:ext uri="{FF2B5EF4-FFF2-40B4-BE49-F238E27FC236}">
                <a16:creationId xmlns:a16="http://schemas.microsoft.com/office/drawing/2014/main" id="{414AC55F-D661-4B09-8BDF-49CFF2F471C8}"/>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08</a:t>
            </a:r>
          </a:p>
        </p:txBody>
      </p:sp>
      <p:pic>
        <p:nvPicPr>
          <p:cNvPr id="6" name="">
            <a:extLst xmlns:a="http://schemas.openxmlformats.org/drawingml/2006/main">
              <a:ext uri="{FF2B5EF4-FFF2-40B4-BE49-F238E27FC236}">
                <a16:creationId xmlns:a16="http://schemas.microsoft.com/office/drawing/2014/main" id="{612D6557-77A7-4E86-BF52-9C793D33EAB2}"/>
              </a:ext>
            </a:extLst>
          </p:cNvPr>
          <p:cNvPicPr>
            <a:picLocks xmlns:a="http://schemas.openxmlformats.org/drawingml/2006/main" noChangeAspect="1"/>
          </p:cNvPicPr>
          <p:nvPr/>
        </p:nvPicPr>
        <p:blipFill>
          <a:blip xmlns:r="http://schemas.openxmlformats.org/officeDocument/2006/relationships" xmlns:a="http://schemas.openxmlformats.org/drawingml/2006/main" r:embed="R214fe6de2c904cea"/>
          <a:stretch xmlns:a="http://schemas.openxmlformats.org/drawingml/2006/main"/>
        </p:blipFill>
        <p:spPr>
          <a:xfrm xmlns:a="http://schemas.openxmlformats.org/drawingml/2006/main">
            <a:off x="897857" y="1828800"/>
            <a:ext cx="6948237"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0981A30-828F-4085-8B38-5DC42508DCF5}"/>
              </a:ext>
            </a:extLst>
          </p:cNvPr>
          <p:cNvSpPr>
            <a:spLocks xmlns:a="http://schemas.openxmlformats.org/drawingml/2006/main" noGrp="1"/>
          </p:cNvSpPr>
          <p:nvPr/>
        </p:nvSpPr>
        <p:spPr>
          <a:xfrm xmlns:a="http://schemas.openxmlformats.org/drawingml/2006/main">
            <a:off x="8486775" y="1943100"/>
            <a:ext cx="3095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E6478"/>
                </a:solidFill>
                <a:latin typeface="DejaVu Sans"/>
                <a:ea typeface="DejaVu Sans"/>
                <a:cs typeface="DejaVu Sans"/>
              </a:defRPr>
            </a:defPPr>
            <a:lvl1pPr>
              <a:defRPr sz="1950" b="1">
                <a:solidFill>
                  <a:srgbClr val="2E6478"/>
                </a:solidFill>
                <a:latin typeface="DejaVu Sans"/>
                <a:ea typeface="DejaVu Sans"/>
                <a:cs typeface="DejaVu Sans"/>
              </a:defRPr>
            </a:lvl1pPr>
            <a:lvl2pPr>
              <a:defRPr sz="1950" b="1">
                <a:solidFill>
                  <a:srgbClr val="2E6478"/>
                </a:solidFill>
                <a:latin typeface="DejaVu Sans"/>
                <a:ea typeface="DejaVu Sans"/>
                <a:cs typeface="DejaVu Sans"/>
              </a:defRPr>
            </a:lvl2pPr>
            <a:lvl3pPr>
              <a:defRPr sz="1950" b="1">
                <a:solidFill>
                  <a:srgbClr val="2E6478"/>
                </a:solidFill>
                <a:latin typeface="DejaVu Sans"/>
                <a:ea typeface="DejaVu Sans"/>
                <a:cs typeface="DejaVu Sans"/>
              </a:defRPr>
            </a:lvl3pPr>
            <a:lvl4pPr>
              <a:defRPr sz="1950" b="1">
                <a:solidFill>
                  <a:srgbClr val="2E6478"/>
                </a:solidFill>
                <a:latin typeface="DejaVu Sans"/>
                <a:ea typeface="DejaVu Sans"/>
                <a:cs typeface="DejaVu Sans"/>
              </a:defRPr>
            </a:lvl4pPr>
            <a:lvl5pPr>
              <a:defRPr sz="1950" b="1">
                <a:solidFill>
                  <a:srgbClr val="2E6478"/>
                </a:solidFill>
                <a:latin typeface="DejaVu Sans"/>
                <a:ea typeface="DejaVu Sans"/>
                <a:cs typeface="DejaVu Sans"/>
              </a:defRPr>
            </a:lvl5pPr>
            <a:lvl6pPr>
              <a:defRPr sz="1950" b="1">
                <a:solidFill>
                  <a:srgbClr val="2E6478"/>
                </a:solidFill>
                <a:latin typeface="DejaVu Sans"/>
                <a:ea typeface="DejaVu Sans"/>
                <a:cs typeface="DejaVu Sans"/>
              </a:defRPr>
            </a:lvl6pPr>
            <a:lvl7pPr>
              <a:defRPr sz="1950" b="1">
                <a:solidFill>
                  <a:srgbClr val="2E6478"/>
                </a:solidFill>
                <a:latin typeface="DejaVu Sans"/>
                <a:ea typeface="DejaVu Sans"/>
                <a:cs typeface="DejaVu Sans"/>
              </a:defRPr>
            </a:lvl7pPr>
            <a:lvl8pPr>
              <a:defRPr sz="1950" b="1">
                <a:solidFill>
                  <a:srgbClr val="2E6478"/>
                </a:solidFill>
                <a:latin typeface="DejaVu Sans"/>
                <a:ea typeface="DejaVu Sans"/>
                <a:cs typeface="DejaVu Sans"/>
              </a:defRPr>
            </a:lvl8pPr>
            <a:lvl9pPr>
              <a:defRPr sz="1950" b="1">
                <a:solidFill>
                  <a:srgbClr val="2E6478"/>
                </a:solidFill>
                <a:latin typeface="DejaVu Sans"/>
                <a:ea typeface="DejaVu Sans"/>
                <a:cs typeface="DejaVu Sans"/>
              </a:defRPr>
            </a:lvl9pPr>
          </a:lstStyle>
          <a:p xmlns:a="http://schemas.openxmlformats.org/drawingml/2006/main">
            <a:pPr>
              <a:defRPr sz="1950" b="1">
                <a:solidFill>
                  <a:srgbClr val="2E6478"/>
                </a:solidFill>
                <a:latin typeface="DejaVu Sans"/>
                <a:ea typeface="DejaVu Sans"/>
                <a:cs typeface="DejaVu Sans"/>
              </a:defRPr>
            </a:pPr>
            <a:r>
              <a:rPr sz="1950" b="1">
                <a:solidFill>
                  <a:srgbClr val="2E6478"/>
                </a:solidFill>
                <a:latin typeface="DejaVu Sans"/>
                <a:ea typeface="DejaVu Sans"/>
                <a:cs typeface="DejaVu Sans"/>
              </a:rPr>
              <a:t>Six proposed states</a:t>
            </a:r>
          </a:p>
        </p:txBody>
      </p:sp>
      <p:sp>
        <p:nvSpPr>
          <p:cNvPr id="8" name="">
            <a:extLst xmlns:a="http://schemas.openxmlformats.org/drawingml/2006/main">
              <a:ext uri="{FF2B5EF4-FFF2-40B4-BE49-F238E27FC236}">
                <a16:creationId xmlns:a16="http://schemas.microsoft.com/office/drawing/2014/main" id="{1457316E-2BFF-4B79-9D60-7F9EC112A447}"/>
              </a:ext>
            </a:extLst>
          </p:cNvPr>
          <p:cNvSpPr>
            <a:spLocks xmlns:a="http://schemas.openxmlformats.org/drawingml/2006/main" noGrp="1"/>
          </p:cNvSpPr>
          <p:nvPr/>
        </p:nvSpPr>
        <p:spPr>
          <a:xfrm xmlns:a="http://schemas.openxmlformats.org/drawingml/2006/main">
            <a:off x="8486775" y="2686050"/>
            <a:ext cx="309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C40"/>
                </a:solidFill>
                <a:latin typeface="DejaVu Sans"/>
                <a:ea typeface="DejaVu Sans"/>
                <a:cs typeface="DejaVu Sans"/>
              </a:defRPr>
            </a:defPPr>
            <a:lvl1pPr>
              <a:defRPr sz="1725" b="0">
                <a:solidFill>
                  <a:srgbClr val="172C40"/>
                </a:solidFill>
                <a:latin typeface="DejaVu Sans"/>
                <a:ea typeface="DejaVu Sans"/>
                <a:cs typeface="DejaVu Sans"/>
              </a:defRPr>
            </a:lvl1pPr>
            <a:lvl2pPr>
              <a:defRPr sz="1725" b="0">
                <a:solidFill>
                  <a:srgbClr val="172C40"/>
                </a:solidFill>
                <a:latin typeface="DejaVu Sans"/>
                <a:ea typeface="DejaVu Sans"/>
                <a:cs typeface="DejaVu Sans"/>
              </a:defRPr>
            </a:lvl2pPr>
            <a:lvl3pPr>
              <a:defRPr sz="1725" b="0">
                <a:solidFill>
                  <a:srgbClr val="172C40"/>
                </a:solidFill>
                <a:latin typeface="DejaVu Sans"/>
                <a:ea typeface="DejaVu Sans"/>
                <a:cs typeface="DejaVu Sans"/>
              </a:defRPr>
            </a:lvl3pPr>
            <a:lvl4pPr>
              <a:defRPr sz="1725" b="0">
                <a:solidFill>
                  <a:srgbClr val="172C40"/>
                </a:solidFill>
                <a:latin typeface="DejaVu Sans"/>
                <a:ea typeface="DejaVu Sans"/>
                <a:cs typeface="DejaVu Sans"/>
              </a:defRPr>
            </a:lvl4pPr>
            <a:lvl5pPr>
              <a:defRPr sz="1725" b="0">
                <a:solidFill>
                  <a:srgbClr val="172C40"/>
                </a:solidFill>
                <a:latin typeface="DejaVu Sans"/>
                <a:ea typeface="DejaVu Sans"/>
                <a:cs typeface="DejaVu Sans"/>
              </a:defRPr>
            </a:lvl5pPr>
            <a:lvl6pPr>
              <a:defRPr sz="1725" b="0">
                <a:solidFill>
                  <a:srgbClr val="172C40"/>
                </a:solidFill>
                <a:latin typeface="DejaVu Sans"/>
                <a:ea typeface="DejaVu Sans"/>
                <a:cs typeface="DejaVu Sans"/>
              </a:defRPr>
            </a:lvl6pPr>
            <a:lvl7pPr>
              <a:defRPr sz="1725" b="0">
                <a:solidFill>
                  <a:srgbClr val="172C40"/>
                </a:solidFill>
                <a:latin typeface="DejaVu Sans"/>
                <a:ea typeface="DejaVu Sans"/>
                <a:cs typeface="DejaVu Sans"/>
              </a:defRPr>
            </a:lvl7pPr>
            <a:lvl8pPr>
              <a:defRPr sz="1725" b="0">
                <a:solidFill>
                  <a:srgbClr val="172C40"/>
                </a:solidFill>
                <a:latin typeface="DejaVu Sans"/>
                <a:ea typeface="DejaVu Sans"/>
                <a:cs typeface="DejaVu Sans"/>
              </a:defRPr>
            </a:lvl8pPr>
            <a:lvl9pPr>
              <a:defRPr sz="1725" b="0">
                <a:solidFill>
                  <a:srgbClr val="172C40"/>
                </a:solidFill>
                <a:latin typeface="DejaVu Sans"/>
                <a:ea typeface="DejaVu Sans"/>
                <a:cs typeface="DejaVu Sans"/>
              </a:defRPr>
            </a:lvl9pPr>
          </a:lstStyle>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Idea and preferences</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Recorded job progress</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Result and simplifications</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Play and ending</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Catalogue and versions</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Failure and retry</a:t>
            </a:r>
          </a:p>
        </p:txBody>
      </p:sp>
      <p:sp>
        <p:nvSpPr>
          <p:cNvPr id="9" name="">
            <a:extLst xmlns:a="http://schemas.openxmlformats.org/drawingml/2006/main">
              <a:ext uri="{FF2B5EF4-FFF2-40B4-BE49-F238E27FC236}">
                <a16:creationId xmlns:a16="http://schemas.microsoft.com/office/drawing/2014/main" id="{9FCF9E16-A85D-4570-8652-DB18E0D63C24}"/>
              </a:ext>
            </a:extLst>
          </p:cNvPr>
          <p:cNvSpPr>
            <a:spLocks xmlns:a="http://schemas.openxmlformats.org/drawingml/2006/main" noGrp="1"/>
          </p:cNvSpPr>
          <p:nvPr/>
        </p:nvSpPr>
        <p:spPr>
          <a:xfrm xmlns:a="http://schemas.openxmlformats.org/drawingml/2006/main">
            <a:off x="8486775" y="52482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2C40"/>
                </a:solidFill>
                <a:latin typeface="DejaVu Sans"/>
                <a:ea typeface="DejaVu Sans"/>
                <a:cs typeface="DejaVu Sans"/>
              </a:defRPr>
            </a:defPPr>
            <a:lvl1pPr>
              <a:defRPr sz="1575" b="1">
                <a:solidFill>
                  <a:srgbClr val="172C40"/>
                </a:solidFill>
                <a:latin typeface="DejaVu Sans"/>
                <a:ea typeface="DejaVu Sans"/>
                <a:cs typeface="DejaVu Sans"/>
              </a:defRPr>
            </a:lvl1pPr>
            <a:lvl2pPr>
              <a:defRPr sz="1575" b="1">
                <a:solidFill>
                  <a:srgbClr val="172C40"/>
                </a:solidFill>
                <a:latin typeface="DejaVu Sans"/>
                <a:ea typeface="DejaVu Sans"/>
                <a:cs typeface="DejaVu Sans"/>
              </a:defRPr>
            </a:lvl2pPr>
            <a:lvl3pPr>
              <a:defRPr sz="1575" b="1">
                <a:solidFill>
                  <a:srgbClr val="172C40"/>
                </a:solidFill>
                <a:latin typeface="DejaVu Sans"/>
                <a:ea typeface="DejaVu Sans"/>
                <a:cs typeface="DejaVu Sans"/>
              </a:defRPr>
            </a:lvl3pPr>
            <a:lvl4pPr>
              <a:defRPr sz="1575" b="1">
                <a:solidFill>
                  <a:srgbClr val="172C40"/>
                </a:solidFill>
                <a:latin typeface="DejaVu Sans"/>
                <a:ea typeface="DejaVu Sans"/>
                <a:cs typeface="DejaVu Sans"/>
              </a:defRPr>
            </a:lvl4pPr>
            <a:lvl5pPr>
              <a:defRPr sz="1575" b="1">
                <a:solidFill>
                  <a:srgbClr val="172C40"/>
                </a:solidFill>
                <a:latin typeface="DejaVu Sans"/>
                <a:ea typeface="DejaVu Sans"/>
                <a:cs typeface="DejaVu Sans"/>
              </a:defRPr>
            </a:lvl5pPr>
            <a:lvl6pPr>
              <a:defRPr sz="1575" b="1">
                <a:solidFill>
                  <a:srgbClr val="172C40"/>
                </a:solidFill>
                <a:latin typeface="DejaVu Sans"/>
                <a:ea typeface="DejaVu Sans"/>
                <a:cs typeface="DejaVu Sans"/>
              </a:defRPr>
            </a:lvl6pPr>
            <a:lvl7pPr>
              <a:defRPr sz="1575" b="1">
                <a:solidFill>
                  <a:srgbClr val="172C40"/>
                </a:solidFill>
                <a:latin typeface="DejaVu Sans"/>
                <a:ea typeface="DejaVu Sans"/>
                <a:cs typeface="DejaVu Sans"/>
              </a:defRPr>
            </a:lvl7pPr>
            <a:lvl8pPr>
              <a:defRPr sz="1575" b="1">
                <a:solidFill>
                  <a:srgbClr val="172C40"/>
                </a:solidFill>
                <a:latin typeface="DejaVu Sans"/>
                <a:ea typeface="DejaVu Sans"/>
                <a:cs typeface="DejaVu Sans"/>
              </a:defRPr>
            </a:lvl8pPr>
            <a:lvl9pPr>
              <a:defRPr sz="1575" b="1">
                <a:solidFill>
                  <a:srgbClr val="172C40"/>
                </a:solidFill>
                <a:latin typeface="DejaVu Sans"/>
                <a:ea typeface="DejaVu Sans"/>
                <a:cs typeface="DejaVu Sans"/>
              </a:defRPr>
            </a:lvl9pPr>
          </a:lstStyle>
          <a:p xmlns:a="http://schemas.openxmlformats.org/drawingml/2006/main">
            <a:pPr>
              <a:defRPr sz="1575" b="1">
                <a:solidFill>
                  <a:srgbClr val="172C40"/>
                </a:solidFill>
                <a:latin typeface="DejaVu Sans"/>
                <a:ea typeface="DejaVu Sans"/>
                <a:cs typeface="DejaVu Sans"/>
              </a:defRPr>
            </a:pPr>
            <a:r>
              <a:rPr sz="1575" b="1">
                <a:solidFill>
                  <a:srgbClr val="172C40"/>
                </a:solidFill>
                <a:latin typeface="DejaVu Sans"/>
                <a:ea typeface="DejaVu Sans"/>
                <a:cs typeface="DejaVu Sans"/>
              </a:rPr>
              <a:t>Static concept.</a:t>
            </a:r>
          </a:p>
          <a:p xmlns:a="http://schemas.openxmlformats.org/drawingml/2006/main">
            <a:pPr>
              <a:defRPr sz="1575" b="1">
                <a:solidFill>
                  <a:srgbClr val="172C40"/>
                </a:solidFill>
                <a:latin typeface="DejaVu Sans"/>
                <a:ea typeface="DejaVu Sans"/>
                <a:cs typeface="DejaVu Sans"/>
              </a:defRPr>
            </a:pPr>
            <a:r>
              <a:rPr sz="1575" b="1">
                <a:solidFill>
                  <a:srgbClr val="172C40"/>
                </a:solidFill>
                <a:latin typeface="DejaVu Sans"/>
                <a:ea typeface="DejaVu Sans"/>
                <a:cs typeface="DejaVu Sans"/>
              </a:rPr>
              <a:t>No user evaluation.</a:t>
            </a:r>
          </a:p>
        </p:txBody>
      </p:sp>
    </p:spTree>
    <p:extLst>
      <p:ext uri="{BB962C8B-B14F-4D97-AF65-F5344CB8AC3E}">
        <p14:creationId xmlns:p14="http://schemas.microsoft.com/office/powerpoint/2010/main" val="1257947549"/>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7F08B0-C345-4E30-A0BE-3A65AD7129D9}"/>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72B0AD-E078-4FE4-99ED-122238840550}"/>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Verification separates launch from game quality</a:t>
            </a:r>
          </a:p>
        </p:txBody>
      </p:sp>
      <p:sp>
        <p:nvSpPr>
          <p:cNvPr id="3" name="">
            <a:extLst xmlns:a="http://schemas.openxmlformats.org/drawingml/2006/main">
              <a:ext uri="{FF2B5EF4-FFF2-40B4-BE49-F238E27FC236}">
                <a16:creationId xmlns:a16="http://schemas.microsoft.com/office/drawing/2014/main" id="{2652BD2C-CD1C-4C2F-8331-5BCB7574DA9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0F2D52-BABE-4FA1-BBFD-9D934A8245EF}"/>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9 Verification · docs/verification-plan.md · tests/evaluation-prompts.md</a:t>
            </a:r>
          </a:p>
        </p:txBody>
      </p:sp>
      <p:sp>
        <p:nvSpPr>
          <p:cNvPr id="5" name="">
            <a:extLst xmlns:a="http://schemas.openxmlformats.org/drawingml/2006/main">
              <a:ext uri="{FF2B5EF4-FFF2-40B4-BE49-F238E27FC236}">
                <a16:creationId xmlns:a16="http://schemas.microsoft.com/office/drawing/2014/main" id="{209289EB-FDD8-4D36-867D-215FBEBF14EC}"/>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09</a:t>
            </a:r>
          </a:p>
        </p:txBody>
      </p:sp>
      <p:sp>
        <p:nvSpPr>
          <p:cNvPr id="6" name="">
            <a:extLst xmlns:a="http://schemas.openxmlformats.org/drawingml/2006/main">
              <a:ext uri="{FF2B5EF4-FFF2-40B4-BE49-F238E27FC236}">
                <a16:creationId xmlns:a16="http://schemas.microsoft.com/office/drawing/2014/main" id="{E10DEB20-AC6F-4E23-A831-951F608725E7}"/>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Baseline and integration checks</a:t>
            </a:r>
          </a:p>
        </p:txBody>
      </p:sp>
      <p:sp>
        <p:nvSpPr>
          <p:cNvPr id="7" name="">
            <a:extLst xmlns:a="http://schemas.openxmlformats.org/drawingml/2006/main">
              <a:ext uri="{FF2B5EF4-FFF2-40B4-BE49-F238E27FC236}">
                <a16:creationId xmlns:a16="http://schemas.microsoft.com/office/drawing/2014/main" id="{C6CAA401-7740-4579-9A07-E4A1AD0DDA63}"/>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Start with a manually authored valid game. Exercise schema errors, duplicate jobs, provider failure and safe artifact delivery.</a:t>
            </a:r>
          </a:p>
        </p:txBody>
      </p:sp>
      <p:sp>
        <p:nvSpPr>
          <p:cNvPr id="8" name="">
            <a:extLst xmlns:a="http://schemas.openxmlformats.org/drawingml/2006/main">
              <a:ext uri="{FF2B5EF4-FFF2-40B4-BE49-F238E27FC236}">
                <a16:creationId xmlns:a16="http://schemas.microsoft.com/office/drawing/2014/main" id="{78B059E4-D7A9-4642-A850-69B89FA0D343}"/>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Gameplay and narrative checks</a:t>
            </a:r>
          </a:p>
        </p:txBody>
      </p:sp>
      <p:sp>
        <p:nvSpPr>
          <p:cNvPr id="9" name="">
            <a:extLst xmlns:a="http://schemas.openxmlformats.org/drawingml/2006/main">
              <a:ext uri="{FF2B5EF4-FFF2-40B4-BE49-F238E27FC236}">
                <a16:creationId xmlns:a16="http://schemas.microsoft.com/office/drawing/2014/main" id="{B1A8B59D-0166-4679-BE13-55968C0018C1}"/>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Record validity, browser launch, main actions, observed ending and story fidelity separately. Retain failures and rejected requests.</a:t>
            </a:r>
          </a:p>
        </p:txBody>
      </p:sp>
      <p:sp>
        <p:nvSpPr>
          <p:cNvPr id="10" name="">
            <a:extLst xmlns:a="http://schemas.openxmlformats.org/drawingml/2006/main">
              <a:ext uri="{FF2B5EF4-FFF2-40B4-BE49-F238E27FC236}">
                <a16:creationId xmlns:a16="http://schemas.microsoft.com/office/drawing/2014/main" id="{629BD363-C960-40D4-8B62-75A4DD299307}"/>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Status today</a:t>
            </a:r>
          </a:p>
        </p:txBody>
      </p:sp>
      <p:sp>
        <p:nvSpPr>
          <p:cNvPr id="11" name="">
            <a:extLst xmlns:a="http://schemas.openxmlformats.org/drawingml/2006/main">
              <a:ext uri="{FF2B5EF4-FFF2-40B4-BE49-F238E27FC236}">
                <a16:creationId xmlns:a16="http://schemas.microsoft.com/office/drawing/2014/main" id="{CBDE29FA-5CFC-4001-97CE-E85216929712}"/>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Test cases and prompt corpus are prepared. No running game, executed test evidence or measured success rate exists.</a:t>
            </a:r>
          </a:p>
        </p:txBody>
      </p:sp>
    </p:spTree>
    <p:extLst>
      <p:ext uri="{BB962C8B-B14F-4D97-AF65-F5344CB8AC3E}">
        <p14:creationId xmlns:p14="http://schemas.microsoft.com/office/powerpoint/2010/main" val="823535700"/>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ECA7FC-5375-4D2B-BE70-4CADB102CABA}"/>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0CCF4-0A76-429E-9655-017BAD669446}"/>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Next work closes evidence and handoff gaps</a:t>
            </a:r>
          </a:p>
        </p:txBody>
      </p:sp>
      <p:sp>
        <p:nvSpPr>
          <p:cNvPr id="3" name="">
            <a:extLst xmlns:a="http://schemas.openxmlformats.org/drawingml/2006/main">
              <a:ext uri="{FF2B5EF4-FFF2-40B4-BE49-F238E27FC236}">
                <a16:creationId xmlns:a16="http://schemas.microsoft.com/office/drawing/2014/main" id="{C6A6DAC9-A37C-4685-9E29-896FA37A904B}"/>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869B9E-BDA1-4D96-8C85-6284A14ADFA8}"/>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10 Management · project-plan.md  /  11 Supervisor · supervisor-feedback.md</a:t>
            </a:r>
          </a:p>
        </p:txBody>
      </p:sp>
      <p:sp>
        <p:nvSpPr>
          <p:cNvPr id="5" name="">
            <a:extLst xmlns:a="http://schemas.openxmlformats.org/drawingml/2006/main">
              <a:ext uri="{FF2B5EF4-FFF2-40B4-BE49-F238E27FC236}">
                <a16:creationId xmlns:a16="http://schemas.microsoft.com/office/drawing/2014/main" id="{94CA7F45-73F1-49AE-9945-1B5F4EB4C71F}"/>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2947B680-E740-40D7-8A7B-58ABDDA83C01}"/>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Scope and research decisions</a:t>
            </a:r>
          </a:p>
        </p:txBody>
      </p:sp>
      <p:sp>
        <p:nvSpPr>
          <p:cNvPr id="7" name="">
            <a:extLst xmlns:a="http://schemas.openxmlformats.org/drawingml/2006/main">
              <a:ext uri="{FF2B5EF4-FFF2-40B4-BE49-F238E27FC236}">
                <a16:creationId xmlns:a16="http://schemas.microsoft.com/office/drawing/2014/main" id="{CCED3C3D-E908-4EF5-89FD-803406FE0F60}"/>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Collect 3–5 discussions or substantive client agreement. Obtain supervisor feedback on mechanic scope, requirements and evaluation.</a:t>
            </a:r>
          </a:p>
        </p:txBody>
      </p:sp>
      <p:sp>
        <p:nvSpPr>
          <p:cNvPr id="8" name="">
            <a:extLst xmlns:a="http://schemas.openxmlformats.org/drawingml/2006/main">
              <a:ext uri="{FF2B5EF4-FFF2-40B4-BE49-F238E27FC236}">
                <a16:creationId xmlns:a16="http://schemas.microsoft.com/office/drawing/2014/main" id="{784A01C1-B057-40EE-B703-DE5C1A0562F8}"/>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Repository and task tracker</a:t>
            </a:r>
          </a:p>
        </p:txBody>
      </p:sp>
      <p:sp>
        <p:nvSpPr>
          <p:cNvPr id="9" name="">
            <a:extLst xmlns:a="http://schemas.openxmlformats.org/drawingml/2006/main">
              <a:ext uri="{FF2B5EF4-FFF2-40B4-BE49-F238E27FC236}">
                <a16:creationId xmlns:a16="http://schemas.microsoft.com/office/drawing/2014/main" id="{CE45E46E-042A-4D4F-BA96-8A0DE4B90698}"/>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Local drafts and a 36-task preparation plan exist. Remote repository, access, YouTrack links, student reviews and submission tag remain open.</a:t>
            </a:r>
          </a:p>
        </p:txBody>
      </p:sp>
      <p:sp>
        <p:nvSpPr>
          <p:cNvPr id="10" name="">
            <a:extLst xmlns:a="http://schemas.openxmlformats.org/drawingml/2006/main">
              <a:ext uri="{FF2B5EF4-FFF2-40B4-BE49-F238E27FC236}">
                <a16:creationId xmlns:a16="http://schemas.microsoft.com/office/drawing/2014/main" id="{01E19FBF-0CEC-4ECD-A140-7D60486900C1}"/>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defRPr sz="2025" b="1">
                <a:solidFill>
                  <a:srgbClr val="2E6478"/>
                </a:solidFill>
                <a:latin typeface="DejaVu Sans"/>
                <a:ea typeface="DejaVu Sans"/>
                <a:cs typeface="DejaVu Sans"/>
              </a:defRPr>
            </a:lvl1pPr>
            <a:lvl2pPr>
              <a:defRPr sz="2025" b="1">
                <a:solidFill>
                  <a:srgbClr val="2E6478"/>
                </a:solidFill>
                <a:latin typeface="DejaVu Sans"/>
                <a:ea typeface="DejaVu Sans"/>
                <a:cs typeface="DejaVu Sans"/>
              </a:defRPr>
            </a:lvl2pPr>
            <a:lvl3pPr>
              <a:defRPr sz="2025" b="1">
                <a:solidFill>
                  <a:srgbClr val="2E6478"/>
                </a:solidFill>
                <a:latin typeface="DejaVu Sans"/>
                <a:ea typeface="DejaVu Sans"/>
                <a:cs typeface="DejaVu Sans"/>
              </a:defRPr>
            </a:lvl3pPr>
            <a:lvl4pPr>
              <a:defRPr sz="2025" b="1">
                <a:solidFill>
                  <a:srgbClr val="2E6478"/>
                </a:solidFill>
                <a:latin typeface="DejaVu Sans"/>
                <a:ea typeface="DejaVu Sans"/>
                <a:cs typeface="DejaVu Sans"/>
              </a:defRPr>
            </a:lvl4pPr>
            <a:lvl5pPr>
              <a:defRPr sz="2025" b="1">
                <a:solidFill>
                  <a:srgbClr val="2E6478"/>
                </a:solidFill>
                <a:latin typeface="DejaVu Sans"/>
                <a:ea typeface="DejaVu Sans"/>
                <a:cs typeface="DejaVu Sans"/>
              </a:defRPr>
            </a:lvl5pPr>
            <a:lvl6pPr>
              <a:defRPr sz="2025" b="1">
                <a:solidFill>
                  <a:srgbClr val="2E6478"/>
                </a:solidFill>
                <a:latin typeface="DejaVu Sans"/>
                <a:ea typeface="DejaVu Sans"/>
                <a:cs typeface="DejaVu Sans"/>
              </a:defRPr>
            </a:lvl6pPr>
            <a:lvl7pPr>
              <a:defRPr sz="2025" b="1">
                <a:solidFill>
                  <a:srgbClr val="2E6478"/>
                </a:solidFill>
                <a:latin typeface="DejaVu Sans"/>
                <a:ea typeface="DejaVu Sans"/>
                <a:cs typeface="DejaVu Sans"/>
              </a:defRPr>
            </a:lvl7pPr>
            <a:lvl8pPr>
              <a:defRPr sz="2025" b="1">
                <a:solidFill>
                  <a:srgbClr val="2E6478"/>
                </a:solidFill>
                <a:latin typeface="DejaVu Sans"/>
                <a:ea typeface="DejaVu Sans"/>
                <a:cs typeface="DejaVu Sans"/>
              </a:defRPr>
            </a:lvl8pPr>
            <a:lvl9pPr>
              <a:defRPr sz="2025" b="1">
                <a:solidFill>
                  <a:srgbClr val="2E6478"/>
                </a:solidFill>
                <a:latin typeface="DejaVu Sans"/>
                <a:ea typeface="DejaVu Sans"/>
                <a:cs typeface="DejaVu Sans"/>
              </a:defRPr>
            </a:lvl9pPr>
          </a:lstStyle>
          <a:p xmlns:a="http://schemas.openxmlformats.org/drawingml/2006/main">
            <a:pPr>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Review and implementation sequence</a:t>
            </a:r>
          </a:p>
        </p:txBody>
      </p:sp>
      <p:sp>
        <p:nvSpPr>
          <p:cNvPr id="11" name="">
            <a:extLst xmlns:a="http://schemas.openxmlformats.org/drawingml/2006/main">
              <a:ext uri="{FF2B5EF4-FFF2-40B4-BE49-F238E27FC236}">
                <a16:creationId xmlns:a16="http://schemas.microsoft.com/office/drawing/2014/main" id="{1E2DCC39-018B-46B7-83F2-47A08F3EF9AD}"/>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All eleven sections have initial drafts. Substantive supervisor artifact review is pending. Agree scope and contract before building the first manual game.</a:t>
            </a:r>
          </a:p>
        </p:txBody>
      </p:sp>
    </p:spTree>
    <p:extLst>
      <p:ext uri="{BB962C8B-B14F-4D97-AF65-F5344CB8AC3E}">
        <p14:creationId xmlns:p14="http://schemas.microsoft.com/office/powerpoint/2010/main" val="991389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2026-10-22T20:09:49.4800000Z</dcterms:created>
  <dcterms:modified xsi:type="dcterms:W3CDTF">2026-10-22T20:09:49.4800000Z</dcterms:modified>
</coreProperties>
</file>