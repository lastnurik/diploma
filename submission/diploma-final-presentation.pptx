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7d51eaf0fe401c" /><Relationship Type="http://schemas.openxmlformats.org/officeDocument/2006/relationships/extended-properties" Target="/docProps/app.xml" Id="R63b7c5d390694e2a" /><Relationship Type="http://schemas.openxmlformats.org/officeDocument/2006/relationships/officeDocument" Target="/ppt/presentation.xml" Id="R8896744f7cf643c1" /></Relationships>
</file>

<file path=ppt/presentation.xml><?xml version="1.0" encoding="utf-8"?>
<p:presentation xmlns:p="http://schemas.openxmlformats.org/presentationml/2006/main">
  <p:sldMasterIdLst>
    <p:sldMasterId xmlns:r="http://schemas.openxmlformats.org/officeDocument/2006/relationships" id="2147483648" r:id="R78d3c00440534f21"/>
  </p:sldMasterIdLst>
  <p:notesMasterIdLst>
    <p:notesMasterId xmlns:r="http://schemas.openxmlformats.org/officeDocument/2006/relationships" r:id="Rcfac435e4a1e4da7"/>
  </p:notesMasterIdLst>
  <p:sldIdLst>
    <p:sldId xmlns:r="http://schemas.openxmlformats.org/officeDocument/2006/relationships" id="256" r:id="R5b96810923dd4471"/>
    <p:sldId xmlns:r="http://schemas.openxmlformats.org/officeDocument/2006/relationships" id="257" r:id="Rf02a522c6858463d"/>
    <p:sldId xmlns:r="http://schemas.openxmlformats.org/officeDocument/2006/relationships" id="258" r:id="R4799b185a734447b"/>
    <p:sldId xmlns:r="http://schemas.openxmlformats.org/officeDocument/2006/relationships" id="259" r:id="Rc82d8c208dcc42de"/>
    <p:sldId xmlns:r="http://schemas.openxmlformats.org/officeDocument/2006/relationships" id="260" r:id="Rdd07b91cd2b8438e"/>
    <p:sldId xmlns:r="http://schemas.openxmlformats.org/officeDocument/2006/relationships" id="261" r:id="R0401ceb5814d4ec0"/>
    <p:sldId xmlns:r="http://schemas.openxmlformats.org/officeDocument/2006/relationships" id="262" r:id="R5f0a4cfb34904aad"/>
    <p:sldId xmlns:r="http://schemas.openxmlformats.org/officeDocument/2006/relationships" id="263" r:id="R5e374486ece84a5b"/>
    <p:sldId xmlns:r="http://schemas.openxmlformats.org/officeDocument/2006/relationships" id="264" r:id="R5e3f2e201bbb4c3d"/>
    <p:sldId xmlns:r="http://schemas.openxmlformats.org/officeDocument/2006/relationships" id="265" r:id="Rdc9f23edd6fb4c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f74477876c44e6" /><Relationship Type="http://schemas.openxmlformats.org/officeDocument/2006/relationships/slideMaster" Target="/ppt/slideMasters/slideMaster1.xml" Id="R78d3c00440534f21" /><Relationship Type="http://schemas.openxmlformats.org/officeDocument/2006/relationships/notesMaster" Target="/ppt/notesMasters/notesMaster1.xml" Id="Rcfac435e4a1e4da7" /><Relationship Type="http://schemas.openxmlformats.org/officeDocument/2006/relationships/presProps" Target="/ppt/presProps.xml" Id="R281d68bc729e42bc" /><Relationship Type="http://schemas.openxmlformats.org/officeDocument/2006/relationships/tableStyles" Target="/ppt/tableStyles.xml" Id="Rfb9f81fe5901409d" /><Relationship Type="http://schemas.openxmlformats.org/officeDocument/2006/relationships/slide" Target="/ppt/slides/slide1.xml" Id="R5b96810923dd4471" /><Relationship Type="http://schemas.openxmlformats.org/officeDocument/2006/relationships/slide" Target="/ppt/slides/slide2.xml" Id="Rf02a522c6858463d" /><Relationship Type="http://schemas.openxmlformats.org/officeDocument/2006/relationships/slide" Target="/ppt/slides/slide3.xml" Id="R4799b185a734447b" /><Relationship Type="http://schemas.openxmlformats.org/officeDocument/2006/relationships/slide" Target="/ppt/slides/slide4.xml" Id="Rc82d8c208dcc42de" /><Relationship Type="http://schemas.openxmlformats.org/officeDocument/2006/relationships/slide" Target="/ppt/slides/slide5.xml" Id="Rdd07b91cd2b8438e" /><Relationship Type="http://schemas.openxmlformats.org/officeDocument/2006/relationships/slide" Target="/ppt/slides/slide6.xml" Id="R0401ceb5814d4ec0" /><Relationship Type="http://schemas.openxmlformats.org/officeDocument/2006/relationships/slide" Target="/ppt/slides/slide7.xml" Id="R5f0a4cfb34904aad" /><Relationship Type="http://schemas.openxmlformats.org/officeDocument/2006/relationships/slide" Target="/ppt/slides/slide8.xml" Id="R5e374486ece84a5b" /><Relationship Type="http://schemas.openxmlformats.org/officeDocument/2006/relationships/slide" Target="/ppt/slides/slide9.xml" Id="R5e3f2e201bbb4c3d" /><Relationship Type="http://schemas.openxmlformats.org/officeDocument/2006/relationships/slide" Target="/ppt/slides/slide10.xml" Id="Rdc9f23edd6fb4c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dea9aa91d34d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4c30514067437b" /><Relationship Type="http://schemas.openxmlformats.org/officeDocument/2006/relationships/notesMaster" Target="/ppt/notesMasters/notesMaster1.xml" Id="R657c8d5182a94e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5c23e2d4144780" /><Relationship Type="http://schemas.openxmlformats.org/officeDocument/2006/relationships/notesMaster" Target="/ppt/notesMasters/notesMaster1.xml" Id="R8f25d5dc438b4b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0f43748a064dbb" /><Relationship Type="http://schemas.openxmlformats.org/officeDocument/2006/relationships/notesMaster" Target="/ppt/notesMasters/notesMaster1.xml" Id="Rff042f06973f4e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7c8dc511104cee" /><Relationship Type="http://schemas.openxmlformats.org/officeDocument/2006/relationships/notesMaster" Target="/ppt/notesMasters/notesMaster1.xml" Id="Re0fd88379cda47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44fd7eff784dee" /><Relationship Type="http://schemas.openxmlformats.org/officeDocument/2006/relationships/notesMaster" Target="/ppt/notesMasters/notesMaster1.xml" Id="R251d530ed4b342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a75de4be0041b9" /><Relationship Type="http://schemas.openxmlformats.org/officeDocument/2006/relationships/notesMaster" Target="/ppt/notesMasters/notesMaster1.xml" Id="Rdd2fe38c98ad44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25749ba21194fb0" /><Relationship Type="http://schemas.openxmlformats.org/officeDocument/2006/relationships/notesMaster" Target="/ppt/notesMasters/notesMaster1.xml" Id="R6a88bd5dbe2f4f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6ba1d9f95b4abc" /><Relationship Type="http://schemas.openxmlformats.org/officeDocument/2006/relationships/notesMaster" Target="/ppt/notesMasters/notesMaster1.xml" Id="R1cd1982d84614e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81bdd5ddc2489e" /><Relationship Type="http://schemas.openxmlformats.org/officeDocument/2006/relationships/notesMaster" Target="/ppt/notesMasters/notesMaster1.xml" Id="R6112a576a48346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cc633cdc7d46fc" /><Relationship Type="http://schemas.openxmlformats.org/officeDocument/2006/relationships/notesMaster" Target="/ppt/notesMasters/notesMaster1.xml" Id="R79280c0229a943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Proposal and scope: docs/proposal.md. The team will investigate user needs, define a feasible game representation, build the authoring, platform and generation modules, and evaluate playability and story fidelity. This is a proposed first version, not a working generator.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team-provided survey CSV, 142 records. Counts are 98 beginners or novices, 65 preferring browser play and 57 answering yes to considering a future prototype. The sample is described by the team as student convenience sampling; respondent identities and representativeness were not independently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report critically reviews twelve publications and compares Rosebud AI, GDevelop and AI Dungeon against nine common criteria. ByteSized32 motivates separate checks for execution, narrative fidelity and winnability. Product descriptions are based on official documentation, not hands-on reliability tests. Any advantage of the proposed approach remains unmeasured.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docs/technology-comparison.md and the technology notes. The server, generation method and runtime each have two or three alternatives. Structured game data and Phaser are provisional directions because they offer a controlled path to validation and browser play; integration and runtime experiments are still required. No alternative has been benchmarked in this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docs/requirements.md, docs/use-cases.md and a legible crop of prototype/result-play.png, rendered from the SVG design overview. These are proposed acceptance criteria: preserve input and version history, show real status or failure, launch only validated game data, test a meaningful action and reachable ending, and explain changes from the request. The image is a static design overview, not a browser screenshot, implemented gameplay or a usability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diagrams/component.png, with editable SVG and Mermaid files beside it. The author UI submits a story to the platform, the AI worker produces untrusted candidate data, and an independent validation gate checks rules and ending before approved data reaches storage and the fixed browser runtime. Status and failure return to the author.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docs/verification-plan.md and tests/evaluation-prompts.md. The planned corpus will report valid specifications, browser launch, consequential action, reachable and observed endings, and narrative correspondence with clear denominators. The manual game checks the runtime, not automated story interpretation. No generation measurements have been executed.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docs/project-plan.md, docs/youtrack-backlog.md and docs/supervisor-feedback.md. The supervisor guidance relayed by the team emphasizes proposal and relevance while covering other required sections concisely; it is not approval of the artifacts. The seven detailed tasks cover the next technical increment and are repository plans for https://aitu-gamegen.youtrack.cloud/, not live issues. Later work stays at milestone level. Dates and technology choices remain provisional.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diagrams/system-context.png, with editable SVG and Mermaid files. The author sends a story and receives a result or a clear failure. An optional model provider returns untrusted output; only validated data reaches the maintained browser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diagrams/use-case.png, with editable SVG and Mermaid files. These seven use cases describe intended author goals from entering a story to checking status, inspecting changes, playing and retrying. Associations do not show execution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57babb15f944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dedcc8b492741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95b7072e88148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44425c94d1947a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a6477bfbb8245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0c465c964a042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9EF666-62F2-4A87-94FE-B0B3FA60453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90737E-D712-4A48-8399-80B24A7E0C0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3ECBEF-3555-4E03-B133-51769EDF71C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CB14BD-E4F8-41DF-B4D1-3C4C1CC5B6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1324C9-6E93-409A-97BB-64D2569AA0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2450B6E-ED42-4FEC-9CF0-549FB0F85F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341F24-04DB-4815-BD9F-CB6127E6A2F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831A602-B0DA-4462-A6D6-60D4F33B40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95334B-7A41-41B9-974A-3544B05306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093B05-EC24-41EE-AAF0-051CA8EF43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2e5adc34cf4301" /><Relationship Type="http://schemas.openxmlformats.org/officeDocument/2006/relationships/slideLayout" Target="/ppt/slideLayouts/slideLayout1.xml" Id="R93204250f4704891" /><Relationship Type="http://schemas.openxmlformats.org/officeDocument/2006/relationships/slideLayout" Target="/ppt/slideLayouts/slideLayout2.xml" Id="R1d351dafc5744b3c" /><Relationship Type="http://schemas.openxmlformats.org/officeDocument/2006/relationships/slideLayout" Target="/ppt/slideLayouts/slideLayout3.xml" Id="R5771037cf7f14f21" /><Relationship Type="http://schemas.openxmlformats.org/officeDocument/2006/relationships/slideLayout" Target="/ppt/slideLayouts/slideLayout4.xml" Id="Rb6d17eb167de4961" /><Relationship Type="http://schemas.openxmlformats.org/officeDocument/2006/relationships/slideLayout" Target="/ppt/slideLayouts/slideLayout5.xml" Id="R7a7a5c2288de4339" /><Relationship Type="http://schemas.openxmlformats.org/officeDocument/2006/relationships/slideLayout" Target="/ppt/slideLayouts/slideLayout6.xml" Id="R840597c00e454c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204250f4704891"/>
    <p:sldLayoutId xmlns:r="http://schemas.openxmlformats.org/officeDocument/2006/relationships" id="2147483650" r:id="R1d351dafc5744b3c"/>
    <p:sldLayoutId xmlns:r="http://schemas.openxmlformats.org/officeDocument/2006/relationships" id="2147483651" r:id="R5771037cf7f14f21"/>
    <p:sldLayoutId xmlns:r="http://schemas.openxmlformats.org/officeDocument/2006/relationships" id="2147483652" r:id="Rb6d17eb167de4961"/>
    <p:sldLayoutId xmlns:r="http://schemas.openxmlformats.org/officeDocument/2006/relationships" id="2147483653" r:id="R7a7a5c2288de4339"/>
    <p:sldLayoutId xmlns:r="http://schemas.openxmlformats.org/officeDocument/2006/relationships" id="2147483654" r:id="R840597c00e454c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d55f26eecf241f3" /><Relationship Type="http://schemas.openxmlformats.org/officeDocument/2006/relationships/notesSlide" Target="/ppt/notesSlides/notesSlide1.xml" Id="Rc19f38f41e1145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fdb93511c7e4190" /><Relationship Type="http://schemas.openxmlformats.org/officeDocument/2006/relationships/notesSlide" Target="/ppt/notesSlides/notesSlide2.xml" Id="R634a033b8ec74a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f5a90cdd1194274" /><Relationship Type="http://schemas.openxmlformats.org/officeDocument/2006/relationships/notesSlide" Target="/ppt/notesSlides/notesSlide3.xml" Id="R0ec3b0e18a8646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67cce06e2e7496c" /><Relationship Type="http://schemas.openxmlformats.org/officeDocument/2006/relationships/notesSlide" Target="/ppt/notesSlides/notesSlide4.xml" Id="R1dc4f3c6d6c949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42668d1faa34062" /><Relationship Type="http://schemas.openxmlformats.org/officeDocument/2006/relationships/image" Target="/ppt/media/image.png" Id="R555a6ff2fd6542fe" /><Relationship Type="http://schemas.openxmlformats.org/officeDocument/2006/relationships/notesSlide" Target="/ppt/notesSlides/notesSlide5.xml" Id="Rd02eef85343745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37f01747e7d4ae5" /><Relationship Type="http://schemas.openxmlformats.org/officeDocument/2006/relationships/image" Target="/ppt/media/image2.png" Id="Rbfb5d10a49d04e31" /><Relationship Type="http://schemas.openxmlformats.org/officeDocument/2006/relationships/notesSlide" Target="/ppt/notesSlides/notesSlide6.xml" Id="Rf7f205dd9f2a43c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50cdcded357435b" /><Relationship Type="http://schemas.openxmlformats.org/officeDocument/2006/relationships/notesSlide" Target="/ppt/notesSlides/notesSlide7.xml" Id="R280847c160544d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aa6bbf2641b4fd3" /><Relationship Type="http://schemas.openxmlformats.org/officeDocument/2006/relationships/notesSlide" Target="/ppt/notesSlides/notesSlide8.xml" Id="R4390029ebaea4e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65cc697f464f48" /><Relationship Type="http://schemas.openxmlformats.org/officeDocument/2006/relationships/image" Target="/ppt/media/image3.png" Id="R9817882336ac4117" /><Relationship Type="http://schemas.openxmlformats.org/officeDocument/2006/relationships/notesSlide" Target="/ppt/notesSlides/notesSlide9.xml" Id="R3ea6bdd2729d45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936c4871e284ecb" /><Relationship Type="http://schemas.openxmlformats.org/officeDocument/2006/relationships/image" Target="/ppt/media/image4.png" Id="R072fe135f198453a" /><Relationship Type="http://schemas.openxmlformats.org/officeDocument/2006/relationships/notesSlide" Target="/ppt/notesSlides/notesSlide10.xml" Id="Ra19d48a7b57e46b4"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2E367B-778B-4068-AAA2-E9C0D773CE3B}"/>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9F0ABA3-3416-4B23-B947-FF70E872995A}"/>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Diploma project proposal</a:t>
            </a:r>
          </a:p>
        </p:txBody>
      </p:sp>
      <p:sp>
        <p:nvSpPr>
          <p:cNvPr id="3" name="">
            <a:extLst xmlns:a="http://schemas.openxmlformats.org/drawingml/2006/main">
              <a:ext uri="{FF2B5EF4-FFF2-40B4-BE49-F238E27FC236}">
                <a16:creationId xmlns:a16="http://schemas.microsoft.com/office/drawing/2014/main" id="{9D4EDBB9-DFD4-4764-BEC7-BFB4E8832A5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D10BD9-F8D1-4DBA-AF03-D1A2D84C27EE}"/>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Astana IT University · SE-2417 · October 2026</a:t>
            </a:r>
          </a:p>
        </p:txBody>
      </p:sp>
      <p:sp>
        <p:nvSpPr>
          <p:cNvPr id="5" name="">
            <a:extLst xmlns:a="http://schemas.openxmlformats.org/drawingml/2006/main">
              <a:ext uri="{FF2B5EF4-FFF2-40B4-BE49-F238E27FC236}">
                <a16:creationId xmlns:a16="http://schemas.microsoft.com/office/drawing/2014/main" id="{A8156808-D289-4C48-871F-5CCD2C3C2A64}"/>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01</a:t>
            </a:r>
          </a:p>
        </p:txBody>
      </p:sp>
      <p:sp>
        <p:nvSpPr>
          <p:cNvPr id="6" name="">
            <a:extLst xmlns:a="http://schemas.openxmlformats.org/drawingml/2006/main">
              <a:ext uri="{FF2B5EF4-FFF2-40B4-BE49-F238E27FC236}">
                <a16:creationId xmlns:a16="http://schemas.microsoft.com/office/drawing/2014/main" id="{AD6FA89C-7FF8-4240-986B-D041895A3DAA}"/>
              </a:ext>
            </a:extLst>
          </p:cNvPr>
          <p:cNvSpPr>
            <a:spLocks xmlns:a="http://schemas.openxmlformats.org/drawingml/2006/main" noGrp="1"/>
          </p:cNvSpPr>
          <p:nvPr/>
        </p:nvSpPr>
        <p:spPr>
          <a:xfrm xmlns:a="http://schemas.openxmlformats.org/drawingml/2006/main">
            <a:off x="609600" y="1828800"/>
            <a:ext cx="109728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75" b="1">
                <a:solidFill>
                  <a:srgbClr val="172C40"/>
                </a:solidFill>
                <a:latin typeface="DejaVu Sans"/>
                <a:ea typeface="DejaVu Sans"/>
                <a:cs typeface="DejaVu Sans"/>
              </a:defRPr>
            </a:defPPr>
            <a:lvl1pPr>
              <a:buNone/>
              <a:defRPr sz="2175" b="1">
                <a:solidFill>
                  <a:srgbClr val="172C40"/>
                </a:solidFill>
                <a:latin typeface="DejaVu Sans"/>
                <a:ea typeface="DejaVu Sans"/>
                <a:cs typeface="DejaVu Sans"/>
              </a:defRPr>
            </a:lvl1pPr>
            <a:lvl2pPr>
              <a:buNone/>
              <a:defRPr sz="2175" b="1">
                <a:solidFill>
                  <a:srgbClr val="172C40"/>
                </a:solidFill>
                <a:latin typeface="DejaVu Sans"/>
                <a:ea typeface="DejaVu Sans"/>
                <a:cs typeface="DejaVu Sans"/>
              </a:defRPr>
            </a:lvl2pPr>
            <a:lvl3pPr>
              <a:buNone/>
              <a:defRPr sz="2175" b="1">
                <a:solidFill>
                  <a:srgbClr val="172C40"/>
                </a:solidFill>
                <a:latin typeface="DejaVu Sans"/>
                <a:ea typeface="DejaVu Sans"/>
                <a:cs typeface="DejaVu Sans"/>
              </a:defRPr>
            </a:lvl3pPr>
            <a:lvl4pPr>
              <a:buNone/>
              <a:defRPr sz="2175" b="1">
                <a:solidFill>
                  <a:srgbClr val="172C40"/>
                </a:solidFill>
                <a:latin typeface="DejaVu Sans"/>
                <a:ea typeface="DejaVu Sans"/>
                <a:cs typeface="DejaVu Sans"/>
              </a:defRPr>
            </a:lvl4pPr>
            <a:lvl5pPr>
              <a:buNone/>
              <a:defRPr sz="2175" b="1">
                <a:solidFill>
                  <a:srgbClr val="172C40"/>
                </a:solidFill>
                <a:latin typeface="DejaVu Sans"/>
                <a:ea typeface="DejaVu Sans"/>
                <a:cs typeface="DejaVu Sans"/>
              </a:defRPr>
            </a:lvl5pPr>
            <a:lvl6pPr>
              <a:buNone/>
              <a:defRPr sz="2175" b="1">
                <a:solidFill>
                  <a:srgbClr val="172C40"/>
                </a:solidFill>
                <a:latin typeface="DejaVu Sans"/>
                <a:ea typeface="DejaVu Sans"/>
                <a:cs typeface="DejaVu Sans"/>
              </a:defRPr>
            </a:lvl6pPr>
            <a:lvl7pPr>
              <a:buNone/>
              <a:defRPr sz="2175" b="1">
                <a:solidFill>
                  <a:srgbClr val="172C40"/>
                </a:solidFill>
                <a:latin typeface="DejaVu Sans"/>
                <a:ea typeface="DejaVu Sans"/>
                <a:cs typeface="DejaVu Sans"/>
              </a:defRPr>
            </a:lvl7pPr>
            <a:lvl8pPr>
              <a:buNone/>
              <a:defRPr sz="2175" b="1">
                <a:solidFill>
                  <a:srgbClr val="172C40"/>
                </a:solidFill>
                <a:latin typeface="DejaVu Sans"/>
                <a:ea typeface="DejaVu Sans"/>
                <a:cs typeface="DejaVu Sans"/>
              </a:defRPr>
            </a:lvl8pPr>
            <a:lvl9pPr>
              <a:buNone/>
              <a:defRPr sz="2175" b="1">
                <a:solidFill>
                  <a:srgbClr val="172C40"/>
                </a:solidFill>
                <a:latin typeface="DejaVu Sans"/>
                <a:ea typeface="DejaVu Sans"/>
                <a:cs typeface="DejaVu Sans"/>
              </a:defRPr>
            </a:lvl9pPr>
          </a:lstStyle>
          <a:p xmlns:a="http://schemas.openxmlformats.org/drawingml/2006/main">
            <a:pPr>
              <a:buNone/>
              <a:defRPr sz="2175" b="1">
                <a:solidFill>
                  <a:srgbClr val="172C40"/>
                </a:solidFill>
                <a:latin typeface="DejaVu Sans"/>
                <a:ea typeface="DejaVu Sans"/>
                <a:cs typeface="DejaVu Sans"/>
              </a:defRPr>
            </a:pPr>
            <a:r>
              <a:rPr sz="2175" b="1">
                <a:solidFill>
                  <a:srgbClr val="172C40"/>
                </a:solidFill>
                <a:latin typeface="DejaVu Sans"/>
                <a:ea typeface="DejaVu Sans"/>
                <a:cs typeface="DejaVu Sans"/>
              </a:rPr>
              <a:t>Development of an AI-Assisted Platform for Generating</a:t>
            </a:r>
          </a:p>
          <a:p xmlns:a="http://schemas.openxmlformats.org/drawingml/2006/main">
            <a:pPr>
              <a:buNone/>
              <a:defRPr sz="2175" b="1">
                <a:solidFill>
                  <a:srgbClr val="172C40"/>
                </a:solidFill>
                <a:latin typeface="DejaVu Sans"/>
                <a:ea typeface="DejaVu Sans"/>
                <a:cs typeface="DejaVu Sans"/>
              </a:defRPr>
            </a:pPr>
            <a:r>
              <a:rPr sz="2175" b="1">
                <a:solidFill>
                  <a:srgbClr val="172C40"/>
                </a:solidFill>
                <a:latin typeface="DejaVu Sans"/>
                <a:ea typeface="DejaVu Sans"/>
                <a:cs typeface="DejaVu Sans"/>
              </a:rPr>
              <a:t>Playable Browser Games from User-Provided Storylines</a:t>
            </a:r>
          </a:p>
        </p:txBody>
      </p:sp>
      <p:sp>
        <p:nvSpPr>
          <p:cNvPr id="7" name="">
            <a:extLst xmlns:a="http://schemas.openxmlformats.org/drawingml/2006/main">
              <a:ext uri="{FF2B5EF4-FFF2-40B4-BE49-F238E27FC236}">
                <a16:creationId xmlns:a16="http://schemas.microsoft.com/office/drawing/2014/main" id="{F2CB6F30-59E1-440A-B613-E283E5956126}"/>
              </a:ext>
            </a:extLst>
          </p:cNvPr>
          <p:cNvSpPr>
            <a:spLocks xmlns:a="http://schemas.openxmlformats.org/drawingml/2006/main" noGrp="1"/>
          </p:cNvSpPr>
          <p:nvPr/>
        </p:nvSpPr>
        <p:spPr>
          <a:xfrm xmlns:a="http://schemas.openxmlformats.org/drawingml/2006/main">
            <a:off x="609600" y="31813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2C40"/>
                </a:solidFill>
                <a:latin typeface="DejaVu Sans"/>
                <a:ea typeface="DejaVu Sans"/>
                <a:cs typeface="DejaVu Sans"/>
              </a:defRPr>
            </a:defPPr>
            <a:lvl1pPr>
              <a:buNone/>
              <a:defRPr sz="1650" b="0">
                <a:solidFill>
                  <a:srgbClr val="172C40"/>
                </a:solidFill>
                <a:latin typeface="DejaVu Sans"/>
                <a:ea typeface="DejaVu Sans"/>
                <a:cs typeface="DejaVu Sans"/>
              </a:defRPr>
            </a:lvl1pPr>
            <a:lvl2pPr>
              <a:buNone/>
              <a:defRPr sz="1650" b="0">
                <a:solidFill>
                  <a:srgbClr val="172C40"/>
                </a:solidFill>
                <a:latin typeface="DejaVu Sans"/>
                <a:ea typeface="DejaVu Sans"/>
                <a:cs typeface="DejaVu Sans"/>
              </a:defRPr>
            </a:lvl2pPr>
            <a:lvl3pPr>
              <a:buNone/>
              <a:defRPr sz="1650" b="0">
                <a:solidFill>
                  <a:srgbClr val="172C40"/>
                </a:solidFill>
                <a:latin typeface="DejaVu Sans"/>
                <a:ea typeface="DejaVu Sans"/>
                <a:cs typeface="DejaVu Sans"/>
              </a:defRPr>
            </a:lvl3pPr>
            <a:lvl4pPr>
              <a:buNone/>
              <a:defRPr sz="1650" b="0">
                <a:solidFill>
                  <a:srgbClr val="172C40"/>
                </a:solidFill>
                <a:latin typeface="DejaVu Sans"/>
                <a:ea typeface="DejaVu Sans"/>
                <a:cs typeface="DejaVu Sans"/>
              </a:defRPr>
            </a:lvl4pPr>
            <a:lvl5pPr>
              <a:buNone/>
              <a:defRPr sz="1650" b="0">
                <a:solidFill>
                  <a:srgbClr val="172C40"/>
                </a:solidFill>
                <a:latin typeface="DejaVu Sans"/>
                <a:ea typeface="DejaVu Sans"/>
                <a:cs typeface="DejaVu Sans"/>
              </a:defRPr>
            </a:lvl5pPr>
            <a:lvl6pPr>
              <a:buNone/>
              <a:defRPr sz="1650" b="0">
                <a:solidFill>
                  <a:srgbClr val="172C40"/>
                </a:solidFill>
                <a:latin typeface="DejaVu Sans"/>
                <a:ea typeface="DejaVu Sans"/>
                <a:cs typeface="DejaVu Sans"/>
              </a:defRPr>
            </a:lvl6pPr>
            <a:lvl7pPr>
              <a:buNone/>
              <a:defRPr sz="1650" b="0">
                <a:solidFill>
                  <a:srgbClr val="172C40"/>
                </a:solidFill>
                <a:latin typeface="DejaVu Sans"/>
                <a:ea typeface="DejaVu Sans"/>
                <a:cs typeface="DejaVu Sans"/>
              </a:defRPr>
            </a:lvl7pPr>
            <a:lvl8pPr>
              <a:buNone/>
              <a:defRPr sz="1650" b="0">
                <a:solidFill>
                  <a:srgbClr val="172C40"/>
                </a:solidFill>
                <a:latin typeface="DejaVu Sans"/>
                <a:ea typeface="DejaVu Sans"/>
                <a:cs typeface="DejaVu Sans"/>
              </a:defRPr>
            </a:lvl8pPr>
            <a:lvl9pPr>
              <a:buNone/>
              <a:defRPr sz="1650" b="0">
                <a:solidFill>
                  <a:srgbClr val="172C40"/>
                </a:solidFill>
                <a:latin typeface="DejaVu Sans"/>
                <a:ea typeface="DejaVu Sans"/>
                <a:cs typeface="DejaVu Sans"/>
              </a:defRPr>
            </a:lvl9pPr>
          </a:lstStyle>
          <a:p xmlns:a="http://schemas.openxmlformats.org/drawingml/2006/main">
            <a:pPr>
              <a:buNone/>
              <a:defRPr sz="1650" b="0">
                <a:solidFill>
                  <a:srgbClr val="172C40"/>
                </a:solidFill>
                <a:latin typeface="DejaVu Sans"/>
                <a:ea typeface="DejaVu Sans"/>
                <a:cs typeface="DejaVu Sans"/>
              </a:defRPr>
            </a:pPr>
            <a:r>
              <a:rPr sz="1650" b="0">
                <a:solidFill>
                  <a:srgbClr val="172C40"/>
                </a:solidFill>
                <a:latin typeface="DejaVu Sans"/>
                <a:ea typeface="DejaVu Sans"/>
                <a:cs typeface="DejaVu Sans"/>
              </a:rPr>
              <a:t>Problem: turning a story into a game still requires game-development skill.</a:t>
            </a:r>
          </a:p>
        </p:txBody>
      </p:sp>
      <p:sp>
        <p:nvSpPr>
          <p:cNvPr id="8" name="">
            <a:extLst xmlns:a="http://schemas.openxmlformats.org/drawingml/2006/main">
              <a:ext uri="{FF2B5EF4-FFF2-40B4-BE49-F238E27FC236}">
                <a16:creationId xmlns:a16="http://schemas.microsoft.com/office/drawing/2014/main" id="{3B26E58B-02C7-4CDC-936F-186BA44A7904}"/>
              </a:ext>
            </a:extLst>
          </p:cNvPr>
          <p:cNvSpPr>
            <a:spLocks xmlns:a="http://schemas.openxmlformats.org/drawingml/2006/main" noGrp="1"/>
          </p:cNvSpPr>
          <p:nvPr/>
        </p:nvSpPr>
        <p:spPr>
          <a:xfrm xmlns:a="http://schemas.openxmlformats.org/drawingml/2006/main">
            <a:off x="609600" y="383857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2C40"/>
                </a:solidFill>
                <a:latin typeface="DejaVu Sans"/>
                <a:ea typeface="DejaVu Sans"/>
                <a:cs typeface="DejaVu Sans"/>
              </a:defRPr>
            </a:defPPr>
            <a:lvl1pPr>
              <a:buNone/>
              <a:defRPr sz="1650" b="0">
                <a:solidFill>
                  <a:srgbClr val="172C40"/>
                </a:solidFill>
                <a:latin typeface="DejaVu Sans"/>
                <a:ea typeface="DejaVu Sans"/>
                <a:cs typeface="DejaVu Sans"/>
              </a:defRPr>
            </a:lvl1pPr>
            <a:lvl2pPr>
              <a:buNone/>
              <a:defRPr sz="1650" b="0">
                <a:solidFill>
                  <a:srgbClr val="172C40"/>
                </a:solidFill>
                <a:latin typeface="DejaVu Sans"/>
                <a:ea typeface="DejaVu Sans"/>
                <a:cs typeface="DejaVu Sans"/>
              </a:defRPr>
            </a:lvl2pPr>
            <a:lvl3pPr>
              <a:buNone/>
              <a:defRPr sz="1650" b="0">
                <a:solidFill>
                  <a:srgbClr val="172C40"/>
                </a:solidFill>
                <a:latin typeface="DejaVu Sans"/>
                <a:ea typeface="DejaVu Sans"/>
                <a:cs typeface="DejaVu Sans"/>
              </a:defRPr>
            </a:lvl3pPr>
            <a:lvl4pPr>
              <a:buNone/>
              <a:defRPr sz="1650" b="0">
                <a:solidFill>
                  <a:srgbClr val="172C40"/>
                </a:solidFill>
                <a:latin typeface="DejaVu Sans"/>
                <a:ea typeface="DejaVu Sans"/>
                <a:cs typeface="DejaVu Sans"/>
              </a:defRPr>
            </a:lvl4pPr>
            <a:lvl5pPr>
              <a:buNone/>
              <a:defRPr sz="1650" b="0">
                <a:solidFill>
                  <a:srgbClr val="172C40"/>
                </a:solidFill>
                <a:latin typeface="DejaVu Sans"/>
                <a:ea typeface="DejaVu Sans"/>
                <a:cs typeface="DejaVu Sans"/>
              </a:defRPr>
            </a:lvl5pPr>
            <a:lvl6pPr>
              <a:buNone/>
              <a:defRPr sz="1650" b="0">
                <a:solidFill>
                  <a:srgbClr val="172C40"/>
                </a:solidFill>
                <a:latin typeface="DejaVu Sans"/>
                <a:ea typeface="DejaVu Sans"/>
                <a:cs typeface="DejaVu Sans"/>
              </a:defRPr>
            </a:lvl6pPr>
            <a:lvl7pPr>
              <a:buNone/>
              <a:defRPr sz="1650" b="0">
                <a:solidFill>
                  <a:srgbClr val="172C40"/>
                </a:solidFill>
                <a:latin typeface="DejaVu Sans"/>
                <a:ea typeface="DejaVu Sans"/>
                <a:cs typeface="DejaVu Sans"/>
              </a:defRPr>
            </a:lvl7pPr>
            <a:lvl8pPr>
              <a:buNone/>
              <a:defRPr sz="1650" b="0">
                <a:solidFill>
                  <a:srgbClr val="172C40"/>
                </a:solidFill>
                <a:latin typeface="DejaVu Sans"/>
                <a:ea typeface="DejaVu Sans"/>
                <a:cs typeface="DejaVu Sans"/>
              </a:defRPr>
            </a:lvl8pPr>
            <a:lvl9pPr>
              <a:buNone/>
              <a:defRPr sz="1650" b="0">
                <a:solidFill>
                  <a:srgbClr val="172C40"/>
                </a:solidFill>
                <a:latin typeface="DejaVu Sans"/>
                <a:ea typeface="DejaVu Sans"/>
                <a:cs typeface="DejaVu Sans"/>
              </a:defRPr>
            </a:lvl9pPr>
          </a:lstStyle>
          <a:p xmlns:a="http://schemas.openxmlformats.org/drawingml/2006/main">
            <a:pPr>
              <a:buNone/>
              <a:defRPr sz="1650" b="0">
                <a:solidFill>
                  <a:srgbClr val="172C40"/>
                </a:solidFill>
                <a:latin typeface="DejaVu Sans"/>
                <a:ea typeface="DejaVu Sans"/>
                <a:cs typeface="DejaVu Sans"/>
              </a:defRPr>
            </a:pPr>
            <a:r>
              <a:rPr sz="1650" b="0">
                <a:solidFill>
                  <a:srgbClr val="172C40"/>
                </a:solidFill>
                <a:latin typeface="DejaVu Sans"/>
                <a:ea typeface="DejaVu Sans"/>
                <a:cs typeface="DejaVu Sans"/>
              </a:rPr>
              <a:t>Aim: a short 2D browser game with meaningful actions and a reachable ending.</a:t>
            </a:r>
          </a:p>
        </p:txBody>
      </p:sp>
      <p:sp>
        <p:nvSpPr>
          <p:cNvPr id="9" name="">
            <a:extLst xmlns:a="http://schemas.openxmlformats.org/drawingml/2006/main">
              <a:ext uri="{FF2B5EF4-FFF2-40B4-BE49-F238E27FC236}">
                <a16:creationId xmlns:a16="http://schemas.microsoft.com/office/drawing/2014/main" id="{5A11B9D8-6ED1-4869-86CB-DCDF8E8E2E06}"/>
              </a:ext>
            </a:extLst>
          </p:cNvPr>
          <p:cNvSpPr>
            <a:spLocks xmlns:a="http://schemas.openxmlformats.org/drawingml/2006/main" noGrp="1"/>
          </p:cNvSpPr>
          <p:nvPr/>
        </p:nvSpPr>
        <p:spPr>
          <a:xfrm xmlns:a="http://schemas.openxmlformats.org/drawingml/2006/main">
            <a:off x="609600" y="447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2C40"/>
                </a:solidFill>
                <a:latin typeface="DejaVu Sans"/>
                <a:ea typeface="DejaVu Sans"/>
                <a:cs typeface="DejaVu Sans"/>
              </a:defRPr>
            </a:defPPr>
            <a:lvl1pPr>
              <a:buNone/>
              <a:defRPr sz="1650" b="0">
                <a:solidFill>
                  <a:srgbClr val="172C40"/>
                </a:solidFill>
                <a:latin typeface="DejaVu Sans"/>
                <a:ea typeface="DejaVu Sans"/>
                <a:cs typeface="DejaVu Sans"/>
              </a:defRPr>
            </a:lvl1pPr>
            <a:lvl2pPr>
              <a:buNone/>
              <a:defRPr sz="1650" b="0">
                <a:solidFill>
                  <a:srgbClr val="172C40"/>
                </a:solidFill>
                <a:latin typeface="DejaVu Sans"/>
                <a:ea typeface="DejaVu Sans"/>
                <a:cs typeface="DejaVu Sans"/>
              </a:defRPr>
            </a:lvl2pPr>
            <a:lvl3pPr>
              <a:buNone/>
              <a:defRPr sz="1650" b="0">
                <a:solidFill>
                  <a:srgbClr val="172C40"/>
                </a:solidFill>
                <a:latin typeface="DejaVu Sans"/>
                <a:ea typeface="DejaVu Sans"/>
                <a:cs typeface="DejaVu Sans"/>
              </a:defRPr>
            </a:lvl3pPr>
            <a:lvl4pPr>
              <a:buNone/>
              <a:defRPr sz="1650" b="0">
                <a:solidFill>
                  <a:srgbClr val="172C40"/>
                </a:solidFill>
                <a:latin typeface="DejaVu Sans"/>
                <a:ea typeface="DejaVu Sans"/>
                <a:cs typeface="DejaVu Sans"/>
              </a:defRPr>
            </a:lvl4pPr>
            <a:lvl5pPr>
              <a:buNone/>
              <a:defRPr sz="1650" b="0">
                <a:solidFill>
                  <a:srgbClr val="172C40"/>
                </a:solidFill>
                <a:latin typeface="DejaVu Sans"/>
                <a:ea typeface="DejaVu Sans"/>
                <a:cs typeface="DejaVu Sans"/>
              </a:defRPr>
            </a:lvl5pPr>
            <a:lvl6pPr>
              <a:buNone/>
              <a:defRPr sz="1650" b="0">
                <a:solidFill>
                  <a:srgbClr val="172C40"/>
                </a:solidFill>
                <a:latin typeface="DejaVu Sans"/>
                <a:ea typeface="DejaVu Sans"/>
                <a:cs typeface="DejaVu Sans"/>
              </a:defRPr>
            </a:lvl6pPr>
            <a:lvl7pPr>
              <a:buNone/>
              <a:defRPr sz="1650" b="0">
                <a:solidFill>
                  <a:srgbClr val="172C40"/>
                </a:solidFill>
                <a:latin typeface="DejaVu Sans"/>
                <a:ea typeface="DejaVu Sans"/>
                <a:cs typeface="DejaVu Sans"/>
              </a:defRPr>
            </a:lvl7pPr>
            <a:lvl8pPr>
              <a:buNone/>
              <a:defRPr sz="1650" b="0">
                <a:solidFill>
                  <a:srgbClr val="172C40"/>
                </a:solidFill>
                <a:latin typeface="DejaVu Sans"/>
                <a:ea typeface="DejaVu Sans"/>
                <a:cs typeface="DejaVu Sans"/>
              </a:defRPr>
            </a:lvl8pPr>
            <a:lvl9pPr>
              <a:buNone/>
              <a:defRPr sz="1650" b="0">
                <a:solidFill>
                  <a:srgbClr val="172C40"/>
                </a:solidFill>
                <a:latin typeface="DejaVu Sans"/>
                <a:ea typeface="DejaVu Sans"/>
                <a:cs typeface="DejaVu Sans"/>
              </a:defRPr>
            </a:lvl9pPr>
          </a:lstStyle>
          <a:p xmlns:a="http://schemas.openxmlformats.org/drawingml/2006/main">
            <a:pPr>
              <a:buNone/>
              <a:defRPr sz="1650" b="0">
                <a:solidFill>
                  <a:srgbClr val="172C40"/>
                </a:solidFill>
                <a:latin typeface="DejaVu Sans"/>
                <a:ea typeface="DejaVu Sans"/>
                <a:cs typeface="DejaVu Sans"/>
              </a:defRPr>
            </a:pPr>
            <a:r>
              <a:rPr sz="1650" b="0">
                <a:solidFill>
                  <a:srgbClr val="172C40"/>
                </a:solidFill>
                <a:latin typeface="DejaVu Sans"/>
                <a:ea typeface="DejaVu Sans"/>
                <a:cs typeface="DejaVu Sans"/>
              </a:rPr>
              <a:t>Initial scope: bounded mechanics for creators without programming experience.</a:t>
            </a:r>
          </a:p>
        </p:txBody>
      </p:sp>
      <p:sp>
        <p:nvSpPr>
          <p:cNvPr id="10" name="">
            <a:extLst xmlns:a="http://schemas.openxmlformats.org/drawingml/2006/main">
              <a:ext uri="{FF2B5EF4-FFF2-40B4-BE49-F238E27FC236}">
                <a16:creationId xmlns:a16="http://schemas.microsoft.com/office/drawing/2014/main" id="{F8AED69A-6DB7-4DFE-A8FF-434AC48C82F4}"/>
              </a:ext>
            </a:extLst>
          </p:cNvPr>
          <p:cNvSpPr>
            <a:spLocks xmlns:a="http://schemas.openxmlformats.org/drawingml/2006/main" noGrp="1"/>
          </p:cNvSpPr>
          <p:nvPr/>
        </p:nvSpPr>
        <p:spPr>
          <a:xfrm xmlns:a="http://schemas.openxmlformats.org/drawingml/2006/main">
            <a:off x="609600" y="525780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Almadi Madiuly · UX/runtime     Zhaksylyk Aldiyar · platform     Yessengeldi Nurgeldi · AI</a:t>
            </a:r>
          </a:p>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Supervisor: Shyngys Alshynov</a:t>
            </a:r>
          </a:p>
        </p:txBody>
      </p:sp>
    </p:spTree>
    <p:extLst>
      <p:ext uri="{BB962C8B-B14F-4D97-AF65-F5344CB8AC3E}">
        <p14:creationId xmlns:p14="http://schemas.microsoft.com/office/powerpoint/2010/main" val="2142803210"/>
      </p:ext>
    </p:extLst>
  </p:cSld>
</p:sld>
</file>

<file path=ppt/slides/slide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B07EC0B-BCA9-4724-9E82-B55E0ECB5B52}"/>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79B8C2-D0C4-4CC6-8DE1-D9B0B812DC05}"/>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Relevance: descriptive survey</a:t>
            </a:r>
          </a:p>
        </p:txBody>
      </p:sp>
      <p:sp>
        <p:nvSpPr>
          <p:cNvPr id="3" name="">
            <a:extLst xmlns:a="http://schemas.openxmlformats.org/drawingml/2006/main">
              <a:ext uri="{FF2B5EF4-FFF2-40B4-BE49-F238E27FC236}">
                <a16:creationId xmlns:a16="http://schemas.microsoft.com/office/drawing/2014/main" id="{79B7E419-C270-4D73-A8C5-F6D66B5879D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98E439-3C78-4FA5-ABF7-F8AE5C980573}"/>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Team-provided CSV · 142 records · 23 October 2026</a:t>
            </a:r>
          </a:p>
        </p:txBody>
      </p:sp>
      <p:sp>
        <p:nvSpPr>
          <p:cNvPr id="5" name="">
            <a:extLst xmlns:a="http://schemas.openxmlformats.org/drawingml/2006/main">
              <a:ext uri="{FF2B5EF4-FFF2-40B4-BE49-F238E27FC236}">
                <a16:creationId xmlns:a16="http://schemas.microsoft.com/office/drawing/2014/main" id="{5E50430F-C8D3-49EF-A062-AEB57659CB80}"/>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02</a:t>
            </a:r>
          </a:p>
        </p:txBody>
      </p:sp>
      <p:sp>
        <p:nvSpPr>
          <p:cNvPr id="6" name="">
            <a:extLst xmlns:a="http://schemas.openxmlformats.org/drawingml/2006/main">
              <a:ext uri="{FF2B5EF4-FFF2-40B4-BE49-F238E27FC236}">
                <a16:creationId xmlns:a16="http://schemas.microsoft.com/office/drawing/2014/main" id="{F5BE7526-358C-49A3-9093-BE7C33F64735}"/>
              </a:ext>
            </a:extLst>
          </p:cNvPr>
          <p:cNvSpPr>
            <a:spLocks xmlns:a="http://schemas.openxmlformats.org/drawingml/2006/main" noGrp="1"/>
          </p:cNvSpPr>
          <p:nvPr/>
        </p:nvSpPr>
        <p:spPr>
          <a:xfrm xmlns:a="http://schemas.openxmlformats.org/drawingml/2006/main">
            <a:off x="609600" y="1800225"/>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Responses in the team-provided export</a:t>
            </a:r>
          </a:p>
        </p:txBody>
      </p:sp>
      <p:sp>
        <p:nvSpPr>
          <p:cNvPr id="7" name="">
            <a:extLst xmlns:a="http://schemas.openxmlformats.org/drawingml/2006/main">
              <a:ext uri="{FF2B5EF4-FFF2-40B4-BE49-F238E27FC236}">
                <a16:creationId xmlns:a16="http://schemas.microsoft.com/office/drawing/2014/main" id="{94D441D0-D0E5-409C-BC50-20905A8C6738}"/>
              </a:ext>
            </a:extLst>
          </p:cNvPr>
          <p:cNvSpPr>
            <a:spLocks xmlns:a="http://schemas.openxmlformats.org/drawingml/2006/main" noGrp="1"/>
          </p:cNvSpPr>
          <p:nvPr/>
        </p:nvSpPr>
        <p:spPr>
          <a:xfrm xmlns:a="http://schemas.openxmlformats.org/drawingml/2006/main">
            <a:off x="609600" y="2543175"/>
            <a:ext cx="3886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No experience or beginner</a:t>
            </a:r>
          </a:p>
        </p:txBody>
      </p:sp>
      <p:sp>
        <p:nvSpPr>
          <p:cNvPr id="8" name="">
            <a:extLst xmlns:a="http://schemas.openxmlformats.org/drawingml/2006/main">
              <a:ext uri="{FF2B5EF4-FFF2-40B4-BE49-F238E27FC236}">
                <a16:creationId xmlns:a16="http://schemas.microsoft.com/office/drawing/2014/main" id="{9718BE3A-B6FA-42BE-8DE7-4CDD812BBD4B}"/>
              </a:ext>
            </a:extLst>
          </p:cNvPr>
          <p:cNvSpPr>
            <a:spLocks xmlns:a="http://schemas.openxmlformats.org/drawingml/2006/main" noGrp="1"/>
          </p:cNvSpPr>
          <p:nvPr/>
        </p:nvSpPr>
        <p:spPr>
          <a:xfrm xmlns:a="http://schemas.openxmlformats.org/drawingml/2006/main">
            <a:off x="4667250" y="25908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D2EC4E1-DDD8-4056-B93E-378F7A073709}"/>
              </a:ext>
            </a:extLst>
          </p:cNvPr>
          <p:cNvSpPr>
            <a:spLocks xmlns:a="http://schemas.openxmlformats.org/drawingml/2006/main" noGrp="1"/>
          </p:cNvSpPr>
          <p:nvPr/>
        </p:nvSpPr>
        <p:spPr>
          <a:xfrm xmlns:a="http://schemas.openxmlformats.org/drawingml/2006/main">
            <a:off x="4667250" y="2590800"/>
            <a:ext cx="3746183"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B4BD0D6-E4E0-4C39-A195-5A9902657ADC}"/>
              </a:ext>
            </a:extLst>
          </p:cNvPr>
          <p:cNvSpPr>
            <a:spLocks xmlns:a="http://schemas.openxmlformats.org/drawingml/2006/main" noGrp="1"/>
          </p:cNvSpPr>
          <p:nvPr/>
        </p:nvSpPr>
        <p:spPr>
          <a:xfrm xmlns:a="http://schemas.openxmlformats.org/drawingml/2006/main">
            <a:off x="10287000" y="2524125"/>
            <a:ext cx="12573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98/142</a:t>
            </a:r>
          </a:p>
        </p:txBody>
      </p:sp>
      <p:sp>
        <p:nvSpPr>
          <p:cNvPr id="11" name="">
            <a:extLst xmlns:a="http://schemas.openxmlformats.org/drawingml/2006/main">
              <a:ext uri="{FF2B5EF4-FFF2-40B4-BE49-F238E27FC236}">
                <a16:creationId xmlns:a16="http://schemas.microsoft.com/office/drawing/2014/main" id="{A2C8E8FF-A5F0-4ECD-84D3-2AA0C63F4770}"/>
              </a:ext>
            </a:extLst>
          </p:cNvPr>
          <p:cNvSpPr>
            <a:spLocks xmlns:a="http://schemas.openxmlformats.org/drawingml/2006/main" noGrp="1"/>
          </p:cNvSpPr>
          <p:nvPr/>
        </p:nvSpPr>
        <p:spPr>
          <a:xfrm xmlns:a="http://schemas.openxmlformats.org/drawingml/2006/main">
            <a:off x="10287000" y="28479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69.0%</a:t>
            </a:r>
          </a:p>
        </p:txBody>
      </p:sp>
      <p:sp>
        <p:nvSpPr>
          <p:cNvPr id="12" name="">
            <a:extLst xmlns:a="http://schemas.openxmlformats.org/drawingml/2006/main">
              <a:ext uri="{FF2B5EF4-FFF2-40B4-BE49-F238E27FC236}">
                <a16:creationId xmlns:a16="http://schemas.microsoft.com/office/drawing/2014/main" id="{FAA8737C-719E-42E2-9925-B230E5C41311}"/>
              </a:ext>
            </a:extLst>
          </p:cNvPr>
          <p:cNvSpPr>
            <a:spLocks xmlns:a="http://schemas.openxmlformats.org/drawingml/2006/main" noGrp="1"/>
          </p:cNvSpPr>
          <p:nvPr/>
        </p:nvSpPr>
        <p:spPr>
          <a:xfrm xmlns:a="http://schemas.openxmlformats.org/drawingml/2006/main">
            <a:off x="609600" y="3457575"/>
            <a:ext cx="3886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Prefer browser play</a:t>
            </a:r>
          </a:p>
        </p:txBody>
      </p:sp>
      <p:sp>
        <p:nvSpPr>
          <p:cNvPr id="13" name="">
            <a:extLst xmlns:a="http://schemas.openxmlformats.org/drawingml/2006/main">
              <a:ext uri="{FF2B5EF4-FFF2-40B4-BE49-F238E27FC236}">
                <a16:creationId xmlns:a16="http://schemas.microsoft.com/office/drawing/2014/main" id="{27ADDF5A-7AEA-4AFB-B37D-C673B5544434}"/>
              </a:ext>
            </a:extLst>
          </p:cNvPr>
          <p:cNvSpPr>
            <a:spLocks xmlns:a="http://schemas.openxmlformats.org/drawingml/2006/main" noGrp="1"/>
          </p:cNvSpPr>
          <p:nvPr/>
        </p:nvSpPr>
        <p:spPr>
          <a:xfrm xmlns:a="http://schemas.openxmlformats.org/drawingml/2006/main">
            <a:off x="4667250" y="35052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32A583-DED3-46B1-82F7-8A36406EF0AF}"/>
              </a:ext>
            </a:extLst>
          </p:cNvPr>
          <p:cNvSpPr>
            <a:spLocks xmlns:a="http://schemas.openxmlformats.org/drawingml/2006/main" noGrp="1"/>
          </p:cNvSpPr>
          <p:nvPr/>
        </p:nvSpPr>
        <p:spPr>
          <a:xfrm xmlns:a="http://schemas.openxmlformats.org/drawingml/2006/main">
            <a:off x="4667250" y="3505200"/>
            <a:ext cx="2486597"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8BCE22A-8E94-4533-BDA2-E92820197AFA}"/>
              </a:ext>
            </a:extLst>
          </p:cNvPr>
          <p:cNvSpPr>
            <a:spLocks xmlns:a="http://schemas.openxmlformats.org/drawingml/2006/main" noGrp="1"/>
          </p:cNvSpPr>
          <p:nvPr/>
        </p:nvSpPr>
        <p:spPr>
          <a:xfrm xmlns:a="http://schemas.openxmlformats.org/drawingml/2006/main">
            <a:off x="10287000" y="3438525"/>
            <a:ext cx="12573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65/142</a:t>
            </a:r>
          </a:p>
        </p:txBody>
      </p:sp>
      <p:sp>
        <p:nvSpPr>
          <p:cNvPr id="16" name="">
            <a:extLst xmlns:a="http://schemas.openxmlformats.org/drawingml/2006/main">
              <a:ext uri="{FF2B5EF4-FFF2-40B4-BE49-F238E27FC236}">
                <a16:creationId xmlns:a16="http://schemas.microsoft.com/office/drawing/2014/main" id="{43A0B6E3-64B4-4C26-9A57-4897E53FE222}"/>
              </a:ext>
            </a:extLst>
          </p:cNvPr>
          <p:cNvSpPr>
            <a:spLocks xmlns:a="http://schemas.openxmlformats.org/drawingml/2006/main" noGrp="1"/>
          </p:cNvSpPr>
          <p:nvPr/>
        </p:nvSpPr>
        <p:spPr>
          <a:xfrm xmlns:a="http://schemas.openxmlformats.org/drawingml/2006/main">
            <a:off x="10287000" y="37623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45.8%</a:t>
            </a:r>
          </a:p>
        </p:txBody>
      </p:sp>
      <p:sp>
        <p:nvSpPr>
          <p:cNvPr id="17" name="">
            <a:extLst xmlns:a="http://schemas.openxmlformats.org/drawingml/2006/main">
              <a:ext uri="{FF2B5EF4-FFF2-40B4-BE49-F238E27FC236}">
                <a16:creationId xmlns:a16="http://schemas.microsoft.com/office/drawing/2014/main" id="{8A28D670-CF54-45FB-BE3D-C7E3ACED96E6}"/>
              </a:ext>
            </a:extLst>
          </p:cNvPr>
          <p:cNvSpPr>
            <a:spLocks xmlns:a="http://schemas.openxmlformats.org/drawingml/2006/main" noGrp="1"/>
          </p:cNvSpPr>
          <p:nvPr/>
        </p:nvSpPr>
        <p:spPr>
          <a:xfrm xmlns:a="http://schemas.openxmlformats.org/drawingml/2006/main">
            <a:off x="609600" y="4371975"/>
            <a:ext cx="3886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Would consider a prototype</a:t>
            </a:r>
          </a:p>
        </p:txBody>
      </p:sp>
      <p:sp>
        <p:nvSpPr>
          <p:cNvPr id="18" name="">
            <a:extLst xmlns:a="http://schemas.openxmlformats.org/drawingml/2006/main">
              <a:ext uri="{FF2B5EF4-FFF2-40B4-BE49-F238E27FC236}">
                <a16:creationId xmlns:a16="http://schemas.microsoft.com/office/drawing/2014/main" id="{6EC29B94-1514-4238-A108-425EEFEE4A4A}"/>
              </a:ext>
            </a:extLst>
          </p:cNvPr>
          <p:cNvSpPr>
            <a:spLocks xmlns:a="http://schemas.openxmlformats.org/drawingml/2006/main" noGrp="1"/>
          </p:cNvSpPr>
          <p:nvPr/>
        </p:nvSpPr>
        <p:spPr>
          <a:xfrm xmlns:a="http://schemas.openxmlformats.org/drawingml/2006/main">
            <a:off x="4667250" y="44196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7C256E-D23E-4907-B4B2-9177B4159217}"/>
              </a:ext>
            </a:extLst>
          </p:cNvPr>
          <p:cNvSpPr>
            <a:spLocks xmlns:a="http://schemas.openxmlformats.org/drawingml/2006/main" noGrp="1"/>
          </p:cNvSpPr>
          <p:nvPr/>
        </p:nvSpPr>
        <p:spPr>
          <a:xfrm xmlns:a="http://schemas.openxmlformats.org/drawingml/2006/main">
            <a:off x="4667250" y="4419600"/>
            <a:ext cx="2177129"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2413FD2-DD4C-4B6A-964D-6F36B3FA1FFA}"/>
              </a:ext>
            </a:extLst>
          </p:cNvPr>
          <p:cNvSpPr>
            <a:spLocks xmlns:a="http://schemas.openxmlformats.org/drawingml/2006/main" noGrp="1"/>
          </p:cNvSpPr>
          <p:nvPr/>
        </p:nvSpPr>
        <p:spPr>
          <a:xfrm xmlns:a="http://schemas.openxmlformats.org/drawingml/2006/main">
            <a:off x="10287000" y="4352925"/>
            <a:ext cx="12573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57/142</a:t>
            </a:r>
          </a:p>
        </p:txBody>
      </p:sp>
      <p:sp>
        <p:nvSpPr>
          <p:cNvPr id="21" name="">
            <a:extLst xmlns:a="http://schemas.openxmlformats.org/drawingml/2006/main">
              <a:ext uri="{FF2B5EF4-FFF2-40B4-BE49-F238E27FC236}">
                <a16:creationId xmlns:a16="http://schemas.microsoft.com/office/drawing/2014/main" id="{60DDBE26-0D4F-4196-93DC-CD3F90A4DCC0}"/>
              </a:ext>
            </a:extLst>
          </p:cNvPr>
          <p:cNvSpPr>
            <a:spLocks xmlns:a="http://schemas.openxmlformats.org/drawingml/2006/main" noGrp="1"/>
          </p:cNvSpPr>
          <p:nvPr/>
        </p:nvSpPr>
        <p:spPr>
          <a:xfrm xmlns:a="http://schemas.openxmlformats.org/drawingml/2006/main">
            <a:off x="10287000" y="46767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40.1%</a:t>
            </a:r>
          </a:p>
        </p:txBody>
      </p:sp>
      <p:sp>
        <p:nvSpPr>
          <p:cNvPr id="22" name="">
            <a:extLst xmlns:a="http://schemas.openxmlformats.org/drawingml/2006/main">
              <a:ext uri="{FF2B5EF4-FFF2-40B4-BE49-F238E27FC236}">
                <a16:creationId xmlns:a16="http://schemas.microsoft.com/office/drawing/2014/main" id="{A400F1FE-B29B-4E04-B21E-3282F722488D}"/>
              </a:ext>
            </a:extLst>
          </p:cNvPr>
          <p:cNvSpPr>
            <a:spLocks xmlns:a="http://schemas.openxmlformats.org/drawingml/2006/main" noGrp="1"/>
          </p:cNvSpPr>
          <p:nvPr/>
        </p:nvSpPr>
        <p:spPr>
          <a:xfrm xmlns:a="http://schemas.openxmlformats.org/drawingml/2006/main">
            <a:off x="609600" y="5467350"/>
            <a:ext cx="10972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526474"/>
                </a:solidFill>
                <a:latin typeface="DejaVu Sans"/>
                <a:ea typeface="DejaVu Sans"/>
                <a:cs typeface="DejaVu Sans"/>
              </a:defRPr>
            </a:defPPr>
            <a:lvl1pPr>
              <a:buNone/>
              <a:defRPr sz="1425" b="0">
                <a:solidFill>
                  <a:srgbClr val="526474"/>
                </a:solidFill>
                <a:latin typeface="DejaVu Sans"/>
                <a:ea typeface="DejaVu Sans"/>
                <a:cs typeface="DejaVu Sans"/>
              </a:defRPr>
            </a:lvl1pPr>
            <a:lvl2pPr>
              <a:buNone/>
              <a:defRPr sz="1425" b="0">
                <a:solidFill>
                  <a:srgbClr val="526474"/>
                </a:solidFill>
                <a:latin typeface="DejaVu Sans"/>
                <a:ea typeface="DejaVu Sans"/>
                <a:cs typeface="DejaVu Sans"/>
              </a:defRPr>
            </a:lvl2pPr>
            <a:lvl3pPr>
              <a:buNone/>
              <a:defRPr sz="1425" b="0">
                <a:solidFill>
                  <a:srgbClr val="526474"/>
                </a:solidFill>
                <a:latin typeface="DejaVu Sans"/>
                <a:ea typeface="DejaVu Sans"/>
                <a:cs typeface="DejaVu Sans"/>
              </a:defRPr>
            </a:lvl3pPr>
            <a:lvl4pPr>
              <a:buNone/>
              <a:defRPr sz="1425" b="0">
                <a:solidFill>
                  <a:srgbClr val="526474"/>
                </a:solidFill>
                <a:latin typeface="DejaVu Sans"/>
                <a:ea typeface="DejaVu Sans"/>
                <a:cs typeface="DejaVu Sans"/>
              </a:defRPr>
            </a:lvl4pPr>
            <a:lvl5pPr>
              <a:buNone/>
              <a:defRPr sz="1425" b="0">
                <a:solidFill>
                  <a:srgbClr val="526474"/>
                </a:solidFill>
                <a:latin typeface="DejaVu Sans"/>
                <a:ea typeface="DejaVu Sans"/>
                <a:cs typeface="DejaVu Sans"/>
              </a:defRPr>
            </a:lvl5pPr>
            <a:lvl6pPr>
              <a:buNone/>
              <a:defRPr sz="1425" b="0">
                <a:solidFill>
                  <a:srgbClr val="526474"/>
                </a:solidFill>
                <a:latin typeface="DejaVu Sans"/>
                <a:ea typeface="DejaVu Sans"/>
                <a:cs typeface="DejaVu Sans"/>
              </a:defRPr>
            </a:lvl6pPr>
            <a:lvl7pPr>
              <a:buNone/>
              <a:defRPr sz="1425" b="0">
                <a:solidFill>
                  <a:srgbClr val="526474"/>
                </a:solidFill>
                <a:latin typeface="DejaVu Sans"/>
                <a:ea typeface="DejaVu Sans"/>
                <a:cs typeface="DejaVu Sans"/>
              </a:defRPr>
            </a:lvl7pPr>
            <a:lvl8pPr>
              <a:buNone/>
              <a:defRPr sz="1425" b="0">
                <a:solidFill>
                  <a:srgbClr val="526474"/>
                </a:solidFill>
                <a:latin typeface="DejaVu Sans"/>
                <a:ea typeface="DejaVu Sans"/>
                <a:cs typeface="DejaVu Sans"/>
              </a:defRPr>
            </a:lvl8pPr>
            <a:lvl9pPr>
              <a:buNone/>
              <a:defRPr sz="1425" b="0">
                <a:solidFill>
                  <a:srgbClr val="526474"/>
                </a:solidFill>
                <a:latin typeface="DejaVu Sans"/>
                <a:ea typeface="DejaVu Sans"/>
                <a:cs typeface="DejaVu Sans"/>
              </a:defRPr>
            </a:lvl9pPr>
          </a:lstStyle>
          <a:p xmlns:a="http://schemas.openxmlformats.org/drawingml/2006/main">
            <a:pPr>
              <a:buNone/>
              <a:defRPr sz="1425" b="0">
                <a:solidFill>
                  <a:srgbClr val="526474"/>
                </a:solidFill>
                <a:latin typeface="DejaVu Sans"/>
                <a:ea typeface="DejaVu Sans"/>
                <a:cs typeface="DejaVu Sans"/>
              </a:defRPr>
            </a:pPr>
            <a:r>
              <a:rPr sz="1425" b="0">
                <a:solidFill>
                  <a:srgbClr val="526474"/>
                </a:solidFill>
                <a:latin typeface="DejaVu Sans"/>
                <a:ea typeface="DejaVu Sans"/>
                <a:cs typeface="DejaVu Sans"/>
              </a:rPr>
              <a:t>Convenience sample; these preferences do not establish demand or feasibility.</a:t>
            </a:r>
          </a:p>
        </p:txBody>
      </p:sp>
    </p:spTree>
    <p:extLst>
      <p:ext uri="{BB962C8B-B14F-4D97-AF65-F5344CB8AC3E}">
        <p14:creationId xmlns:p14="http://schemas.microsoft.com/office/powerpoint/2010/main" val="1412751567"/>
      </p:ext>
    </p:extLst>
  </p:cSld>
</p:sld>
</file>

<file path=ppt/slides/slide3.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73CE0B-43C5-4685-B50B-21DEB831C533}"/>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5900228-E8C6-4F4A-874E-178DF5090ABF}"/>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Research position</a:t>
            </a:r>
          </a:p>
        </p:txBody>
      </p:sp>
      <p:sp>
        <p:nvSpPr>
          <p:cNvPr id="3" name="">
            <a:extLst xmlns:a="http://schemas.openxmlformats.org/drawingml/2006/main">
              <a:ext uri="{FF2B5EF4-FFF2-40B4-BE49-F238E27FC236}">
                <a16:creationId xmlns:a16="http://schemas.microsoft.com/office/drawing/2014/main" id="{028A4EF4-3DF8-4919-AE93-1C2D0D64AC6F}"/>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A3A1B8-38FA-4965-8E7A-5319499D3BF1}"/>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Literature review · 12 publications · three-system documentation comparison</a:t>
            </a:r>
          </a:p>
        </p:txBody>
      </p:sp>
      <p:sp>
        <p:nvSpPr>
          <p:cNvPr id="5" name="">
            <a:extLst xmlns:a="http://schemas.openxmlformats.org/drawingml/2006/main">
              <a:ext uri="{FF2B5EF4-FFF2-40B4-BE49-F238E27FC236}">
                <a16:creationId xmlns:a16="http://schemas.microsoft.com/office/drawing/2014/main" id="{3C50BC38-A1FA-484A-A891-60C65CC66E62}"/>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03</a:t>
            </a:r>
          </a:p>
        </p:txBody>
      </p:sp>
      <p:sp>
        <p:nvSpPr>
          <p:cNvPr id="6" name="">
            <a:extLst xmlns:a="http://schemas.openxmlformats.org/drawingml/2006/main">
              <a:ext uri="{FF2B5EF4-FFF2-40B4-BE49-F238E27FC236}">
                <a16:creationId xmlns:a16="http://schemas.microsoft.com/office/drawing/2014/main" id="{BA8C1B4B-B1BC-4DD6-8077-BE8096CA63E4}"/>
              </a:ext>
            </a:extLst>
          </p:cNvPr>
          <p:cNvSpPr>
            <a:spLocks xmlns:a="http://schemas.openxmlformats.org/drawingml/2006/main" noGrp="1"/>
          </p:cNvSpPr>
          <p:nvPr/>
        </p:nvSpPr>
        <p:spPr>
          <a:xfrm xmlns:a="http://schemas.openxmlformats.org/drawingml/2006/main">
            <a:off x="609600" y="18002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A bounded game specification is the approach to investigate</a:t>
            </a:r>
          </a:p>
        </p:txBody>
      </p:sp>
      <p:sp>
        <p:nvSpPr>
          <p:cNvPr id="7" name="">
            <a:extLst xmlns:a="http://schemas.openxmlformats.org/drawingml/2006/main">
              <a:ext uri="{FF2B5EF4-FFF2-40B4-BE49-F238E27FC236}">
                <a16:creationId xmlns:a16="http://schemas.microsoft.com/office/drawing/2014/main" id="{AA6CD0D4-63AC-4984-A25B-4F3CCD61E1D2}"/>
              </a:ext>
            </a:extLst>
          </p:cNvPr>
          <p:cNvSpPr>
            <a:spLocks xmlns:a="http://schemas.openxmlformats.org/drawingml/2006/main" noGrp="1"/>
          </p:cNvSpPr>
          <p:nvPr/>
        </p:nvSpPr>
        <p:spPr>
          <a:xfrm xmlns:a="http://schemas.openxmlformats.org/drawingml/2006/main">
            <a:off x="609600" y="23812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172C40"/>
                </a:solidFill>
                <a:latin typeface="DejaVu Sans"/>
                <a:ea typeface="DejaVu Sans"/>
                <a:cs typeface="DejaVu Sans"/>
              </a:defRPr>
            </a:defPPr>
            <a:lvl1pPr>
              <a:buNone/>
              <a:defRPr sz="1725" b="1">
                <a:solidFill>
                  <a:srgbClr val="172C40"/>
                </a:solidFill>
                <a:latin typeface="DejaVu Sans"/>
                <a:ea typeface="DejaVu Sans"/>
                <a:cs typeface="DejaVu Sans"/>
              </a:defRPr>
            </a:lvl1pPr>
            <a:lvl2pPr>
              <a:buNone/>
              <a:defRPr sz="1725" b="1">
                <a:solidFill>
                  <a:srgbClr val="172C40"/>
                </a:solidFill>
                <a:latin typeface="DejaVu Sans"/>
                <a:ea typeface="DejaVu Sans"/>
                <a:cs typeface="DejaVu Sans"/>
              </a:defRPr>
            </a:lvl2pPr>
            <a:lvl3pPr>
              <a:buNone/>
              <a:defRPr sz="1725" b="1">
                <a:solidFill>
                  <a:srgbClr val="172C40"/>
                </a:solidFill>
                <a:latin typeface="DejaVu Sans"/>
                <a:ea typeface="DejaVu Sans"/>
                <a:cs typeface="DejaVu Sans"/>
              </a:defRPr>
            </a:lvl3pPr>
            <a:lvl4pPr>
              <a:buNone/>
              <a:defRPr sz="1725" b="1">
                <a:solidFill>
                  <a:srgbClr val="172C40"/>
                </a:solidFill>
                <a:latin typeface="DejaVu Sans"/>
                <a:ea typeface="DejaVu Sans"/>
                <a:cs typeface="DejaVu Sans"/>
              </a:defRPr>
            </a:lvl4pPr>
            <a:lvl5pPr>
              <a:buNone/>
              <a:defRPr sz="1725" b="1">
                <a:solidFill>
                  <a:srgbClr val="172C40"/>
                </a:solidFill>
                <a:latin typeface="DejaVu Sans"/>
                <a:ea typeface="DejaVu Sans"/>
                <a:cs typeface="DejaVu Sans"/>
              </a:defRPr>
            </a:lvl5pPr>
            <a:lvl6pPr>
              <a:buNone/>
              <a:defRPr sz="1725" b="1">
                <a:solidFill>
                  <a:srgbClr val="172C40"/>
                </a:solidFill>
                <a:latin typeface="DejaVu Sans"/>
                <a:ea typeface="DejaVu Sans"/>
                <a:cs typeface="DejaVu Sans"/>
              </a:defRPr>
            </a:lvl6pPr>
            <a:lvl7pPr>
              <a:buNone/>
              <a:defRPr sz="1725" b="1">
                <a:solidFill>
                  <a:srgbClr val="172C40"/>
                </a:solidFill>
                <a:latin typeface="DejaVu Sans"/>
                <a:ea typeface="DejaVu Sans"/>
                <a:cs typeface="DejaVu Sans"/>
              </a:defRPr>
            </a:lvl7pPr>
            <a:lvl8pPr>
              <a:buNone/>
              <a:defRPr sz="1725" b="1">
                <a:solidFill>
                  <a:srgbClr val="172C40"/>
                </a:solidFill>
                <a:latin typeface="DejaVu Sans"/>
                <a:ea typeface="DejaVu Sans"/>
                <a:cs typeface="DejaVu Sans"/>
              </a:defRPr>
            </a:lvl8pPr>
            <a:lvl9pPr>
              <a:buNone/>
              <a:defRPr sz="1725" b="1">
                <a:solidFill>
                  <a:srgbClr val="172C40"/>
                </a:solidFill>
                <a:latin typeface="DejaVu Sans"/>
                <a:ea typeface="DejaVu Sans"/>
                <a:cs typeface="DejaVu Sans"/>
              </a:defRPr>
            </a:lvl9pPr>
          </a:lstStyle>
          <a:p xmlns:a="http://schemas.openxmlformats.org/drawingml/2006/main">
            <a:pPr>
              <a:buNone/>
              <a:defRPr sz="1725" b="1">
                <a:solidFill>
                  <a:srgbClr val="172C40"/>
                </a:solidFill>
                <a:latin typeface="DejaVu Sans"/>
                <a:ea typeface="DejaVu Sans"/>
                <a:cs typeface="DejaVu Sans"/>
              </a:defRPr>
            </a:pPr>
            <a:r>
              <a:rPr sz="1725" b="1">
                <a:solidFill>
                  <a:srgbClr val="172C40"/>
                </a:solidFill>
                <a:latin typeface="DejaVu Sans"/>
                <a:ea typeface="DejaVu Sans"/>
                <a:cs typeface="DejaVu Sans"/>
              </a:rPr>
              <a:t>Literature separates</a:t>
            </a:r>
          </a:p>
        </p:txBody>
      </p:sp>
      <p:sp>
        <p:nvSpPr>
          <p:cNvPr id="8" name="">
            <a:extLst xmlns:a="http://schemas.openxmlformats.org/drawingml/2006/main">
              <a:ext uri="{FF2B5EF4-FFF2-40B4-BE49-F238E27FC236}">
                <a16:creationId xmlns:a16="http://schemas.microsoft.com/office/drawing/2014/main" id="{CB8AD0DF-31ED-427A-B99B-DD7505D2773F}"/>
              </a:ext>
            </a:extLst>
          </p:cNvPr>
          <p:cNvSpPr>
            <a:spLocks xmlns:a="http://schemas.openxmlformats.org/drawingml/2006/main" noGrp="1"/>
          </p:cNvSpPr>
          <p:nvPr/>
        </p:nvSpPr>
        <p:spPr>
          <a:xfrm xmlns:a="http://schemas.openxmlformats.org/drawingml/2006/main">
            <a:off x="609600" y="2905125"/>
            <a:ext cx="4762500" cy="1495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Execution</a:t>
            </a:r>
          </a:p>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Story fidelity</a:t>
            </a:r>
          </a:p>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Reachable ending</a:t>
            </a:r>
          </a:p>
        </p:txBody>
      </p:sp>
      <p:sp>
        <p:nvSpPr>
          <p:cNvPr id="9" name="">
            <a:extLst xmlns:a="http://schemas.openxmlformats.org/drawingml/2006/main">
              <a:ext uri="{FF2B5EF4-FFF2-40B4-BE49-F238E27FC236}">
                <a16:creationId xmlns:a16="http://schemas.microsoft.com/office/drawing/2014/main" id="{8534A048-9AFE-4D9E-96EE-265FDE0ABA9D}"/>
              </a:ext>
            </a:extLst>
          </p:cNvPr>
          <p:cNvSpPr>
            <a:spLocks xmlns:a="http://schemas.openxmlformats.org/drawingml/2006/main" noGrp="1"/>
          </p:cNvSpPr>
          <p:nvPr/>
        </p:nvSpPr>
        <p:spPr>
          <a:xfrm xmlns:a="http://schemas.openxmlformats.org/drawingml/2006/main">
            <a:off x="5772150" y="2324100"/>
            <a:ext cx="9525" cy="266700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B4FB38-82A1-4A61-8EC8-84AF318BA72C}"/>
              </a:ext>
            </a:extLst>
          </p:cNvPr>
          <p:cNvSpPr>
            <a:spLocks xmlns:a="http://schemas.openxmlformats.org/drawingml/2006/main" noGrp="1"/>
          </p:cNvSpPr>
          <p:nvPr/>
        </p:nvSpPr>
        <p:spPr>
          <a:xfrm xmlns:a="http://schemas.openxmlformats.org/drawingml/2006/main">
            <a:off x="6229350" y="2381250"/>
            <a:ext cx="5353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172C40"/>
                </a:solidFill>
                <a:latin typeface="DejaVu Sans"/>
                <a:ea typeface="DejaVu Sans"/>
                <a:cs typeface="DejaVu Sans"/>
              </a:defRPr>
            </a:defPPr>
            <a:lvl1pPr>
              <a:buNone/>
              <a:defRPr sz="1725" b="1">
                <a:solidFill>
                  <a:srgbClr val="172C40"/>
                </a:solidFill>
                <a:latin typeface="DejaVu Sans"/>
                <a:ea typeface="DejaVu Sans"/>
                <a:cs typeface="DejaVu Sans"/>
              </a:defRPr>
            </a:lvl1pPr>
            <a:lvl2pPr>
              <a:buNone/>
              <a:defRPr sz="1725" b="1">
                <a:solidFill>
                  <a:srgbClr val="172C40"/>
                </a:solidFill>
                <a:latin typeface="DejaVu Sans"/>
                <a:ea typeface="DejaVu Sans"/>
                <a:cs typeface="DejaVu Sans"/>
              </a:defRPr>
            </a:lvl2pPr>
            <a:lvl3pPr>
              <a:buNone/>
              <a:defRPr sz="1725" b="1">
                <a:solidFill>
                  <a:srgbClr val="172C40"/>
                </a:solidFill>
                <a:latin typeface="DejaVu Sans"/>
                <a:ea typeface="DejaVu Sans"/>
                <a:cs typeface="DejaVu Sans"/>
              </a:defRPr>
            </a:lvl3pPr>
            <a:lvl4pPr>
              <a:buNone/>
              <a:defRPr sz="1725" b="1">
                <a:solidFill>
                  <a:srgbClr val="172C40"/>
                </a:solidFill>
                <a:latin typeface="DejaVu Sans"/>
                <a:ea typeface="DejaVu Sans"/>
                <a:cs typeface="DejaVu Sans"/>
              </a:defRPr>
            </a:lvl4pPr>
            <a:lvl5pPr>
              <a:buNone/>
              <a:defRPr sz="1725" b="1">
                <a:solidFill>
                  <a:srgbClr val="172C40"/>
                </a:solidFill>
                <a:latin typeface="DejaVu Sans"/>
                <a:ea typeface="DejaVu Sans"/>
                <a:cs typeface="DejaVu Sans"/>
              </a:defRPr>
            </a:lvl5pPr>
            <a:lvl6pPr>
              <a:buNone/>
              <a:defRPr sz="1725" b="1">
                <a:solidFill>
                  <a:srgbClr val="172C40"/>
                </a:solidFill>
                <a:latin typeface="DejaVu Sans"/>
                <a:ea typeface="DejaVu Sans"/>
                <a:cs typeface="DejaVu Sans"/>
              </a:defRPr>
            </a:lvl6pPr>
            <a:lvl7pPr>
              <a:buNone/>
              <a:defRPr sz="1725" b="1">
                <a:solidFill>
                  <a:srgbClr val="172C40"/>
                </a:solidFill>
                <a:latin typeface="DejaVu Sans"/>
                <a:ea typeface="DejaVu Sans"/>
                <a:cs typeface="DejaVu Sans"/>
              </a:defRPr>
            </a:lvl7pPr>
            <a:lvl8pPr>
              <a:buNone/>
              <a:defRPr sz="1725" b="1">
                <a:solidFill>
                  <a:srgbClr val="172C40"/>
                </a:solidFill>
                <a:latin typeface="DejaVu Sans"/>
                <a:ea typeface="DejaVu Sans"/>
                <a:cs typeface="DejaVu Sans"/>
              </a:defRPr>
            </a:lvl8pPr>
            <a:lvl9pPr>
              <a:buNone/>
              <a:defRPr sz="1725" b="1">
                <a:solidFill>
                  <a:srgbClr val="172C40"/>
                </a:solidFill>
                <a:latin typeface="DejaVu Sans"/>
                <a:ea typeface="DejaVu Sans"/>
                <a:cs typeface="DejaVu Sans"/>
              </a:defRPr>
            </a:lvl9pPr>
          </a:lstStyle>
          <a:p xmlns:a="http://schemas.openxmlformats.org/drawingml/2006/main">
            <a:pPr>
              <a:buNone/>
              <a:defRPr sz="1725" b="1">
                <a:solidFill>
                  <a:srgbClr val="172C40"/>
                </a:solidFill>
                <a:latin typeface="DejaVu Sans"/>
                <a:ea typeface="DejaVu Sans"/>
                <a:cs typeface="DejaVu Sans"/>
              </a:defRPr>
            </a:pPr>
            <a:r>
              <a:rPr sz="1725" b="1">
                <a:solidFill>
                  <a:srgbClr val="172C40"/>
                </a:solidFill>
                <a:latin typeface="DejaVu Sans"/>
                <a:ea typeface="DejaVu Sans"/>
                <a:cs typeface="DejaVu Sans"/>
              </a:rPr>
              <a:t>Reference systems show</a:t>
            </a:r>
          </a:p>
        </p:txBody>
      </p:sp>
      <p:sp>
        <p:nvSpPr>
          <p:cNvPr id="11" name="">
            <a:extLst xmlns:a="http://schemas.openxmlformats.org/drawingml/2006/main">
              <a:ext uri="{FF2B5EF4-FFF2-40B4-BE49-F238E27FC236}">
                <a16:creationId xmlns:a16="http://schemas.microsoft.com/office/drawing/2014/main" id="{DBD8014F-BED3-498D-A5F7-69322CF87D34}"/>
              </a:ext>
            </a:extLst>
          </p:cNvPr>
          <p:cNvSpPr>
            <a:spLocks xmlns:a="http://schemas.openxmlformats.org/drawingml/2006/main" noGrp="1"/>
          </p:cNvSpPr>
          <p:nvPr/>
        </p:nvSpPr>
        <p:spPr>
          <a:xfrm xmlns:a="http://schemas.openxmlformats.org/drawingml/2006/main">
            <a:off x="6229350" y="2905125"/>
            <a:ext cx="5353050" cy="1685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172C40"/>
                </a:solidFill>
                <a:latin typeface="DejaVu Sans"/>
                <a:ea typeface="DejaVu Sans"/>
                <a:cs typeface="DejaVu Sans"/>
              </a:defRPr>
            </a:defPPr>
            <a:lvl1pPr>
              <a:buNone/>
              <a:defRPr sz="1575" b="0">
                <a:solidFill>
                  <a:srgbClr val="172C40"/>
                </a:solidFill>
                <a:latin typeface="DejaVu Sans"/>
                <a:ea typeface="DejaVu Sans"/>
                <a:cs typeface="DejaVu Sans"/>
              </a:defRPr>
            </a:lvl1pPr>
            <a:lvl2pPr>
              <a:buNone/>
              <a:defRPr sz="1575" b="0">
                <a:solidFill>
                  <a:srgbClr val="172C40"/>
                </a:solidFill>
                <a:latin typeface="DejaVu Sans"/>
                <a:ea typeface="DejaVu Sans"/>
                <a:cs typeface="DejaVu Sans"/>
              </a:defRPr>
            </a:lvl2pPr>
            <a:lvl3pPr>
              <a:buNone/>
              <a:defRPr sz="1575" b="0">
                <a:solidFill>
                  <a:srgbClr val="172C40"/>
                </a:solidFill>
                <a:latin typeface="DejaVu Sans"/>
                <a:ea typeface="DejaVu Sans"/>
                <a:cs typeface="DejaVu Sans"/>
              </a:defRPr>
            </a:lvl3pPr>
            <a:lvl4pPr>
              <a:buNone/>
              <a:defRPr sz="1575" b="0">
                <a:solidFill>
                  <a:srgbClr val="172C40"/>
                </a:solidFill>
                <a:latin typeface="DejaVu Sans"/>
                <a:ea typeface="DejaVu Sans"/>
                <a:cs typeface="DejaVu Sans"/>
              </a:defRPr>
            </a:lvl4pPr>
            <a:lvl5pPr>
              <a:buNone/>
              <a:defRPr sz="1575" b="0">
                <a:solidFill>
                  <a:srgbClr val="172C40"/>
                </a:solidFill>
                <a:latin typeface="DejaVu Sans"/>
                <a:ea typeface="DejaVu Sans"/>
                <a:cs typeface="DejaVu Sans"/>
              </a:defRPr>
            </a:lvl5pPr>
            <a:lvl6pPr>
              <a:buNone/>
              <a:defRPr sz="1575" b="0">
                <a:solidFill>
                  <a:srgbClr val="172C40"/>
                </a:solidFill>
                <a:latin typeface="DejaVu Sans"/>
                <a:ea typeface="DejaVu Sans"/>
                <a:cs typeface="DejaVu Sans"/>
              </a:defRPr>
            </a:lvl6pPr>
            <a:lvl7pPr>
              <a:buNone/>
              <a:defRPr sz="1575" b="0">
                <a:solidFill>
                  <a:srgbClr val="172C40"/>
                </a:solidFill>
                <a:latin typeface="DejaVu Sans"/>
                <a:ea typeface="DejaVu Sans"/>
                <a:cs typeface="DejaVu Sans"/>
              </a:defRPr>
            </a:lvl7pPr>
            <a:lvl8pPr>
              <a:buNone/>
              <a:defRPr sz="1575" b="0">
                <a:solidFill>
                  <a:srgbClr val="172C40"/>
                </a:solidFill>
                <a:latin typeface="DejaVu Sans"/>
                <a:ea typeface="DejaVu Sans"/>
                <a:cs typeface="DejaVu Sans"/>
              </a:defRPr>
            </a:lvl8pPr>
            <a:lvl9pPr>
              <a:buNone/>
              <a:defRPr sz="1575" b="0">
                <a:solidFill>
                  <a:srgbClr val="172C40"/>
                </a:solidFill>
                <a:latin typeface="DejaVu Sans"/>
                <a:ea typeface="DejaVu Sans"/>
                <a:cs typeface="DejaVu Sans"/>
              </a:defRPr>
            </a:lvl9pPr>
          </a:lstStyle>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Rosebud AI · prompt to browser play</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GDevelop · editable rules and tests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AI Dungeon · interactive text stories</a:t>
            </a:r>
          </a:p>
        </p:txBody>
      </p:sp>
      <p:sp>
        <p:nvSpPr>
          <p:cNvPr id="12" name="">
            <a:extLst xmlns:a="http://schemas.openxmlformats.org/drawingml/2006/main">
              <a:ext uri="{FF2B5EF4-FFF2-40B4-BE49-F238E27FC236}">
                <a16:creationId xmlns:a16="http://schemas.microsoft.com/office/drawing/2014/main" id="{2675154C-1A11-4EDE-B85B-F447C9C11D22}"/>
              </a:ext>
            </a:extLst>
          </p:cNvPr>
          <p:cNvSpPr>
            <a:spLocks xmlns:a="http://schemas.openxmlformats.org/drawingml/2006/main" noGrp="1"/>
          </p:cNvSpPr>
          <p:nvPr/>
        </p:nvSpPr>
        <p:spPr>
          <a:xfrm xmlns:a="http://schemas.openxmlformats.org/drawingml/2006/main">
            <a:off x="609600" y="51435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59D960C-42C8-4882-8126-DBC1EBED927F}"/>
              </a:ext>
            </a:extLst>
          </p:cNvPr>
          <p:cNvSpPr>
            <a:spLocks xmlns:a="http://schemas.openxmlformats.org/drawingml/2006/main" noGrp="1"/>
          </p:cNvSpPr>
          <p:nvPr/>
        </p:nvSpPr>
        <p:spPr>
          <a:xfrm xmlns:a="http://schemas.openxmlformats.org/drawingml/2006/main">
            <a:off x="609600" y="53340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172C40"/>
                </a:solidFill>
                <a:latin typeface="DejaVu Sans"/>
                <a:ea typeface="DejaVu Sans"/>
                <a:cs typeface="DejaVu Sans"/>
              </a:defRPr>
            </a:defPPr>
            <a:lvl1pPr>
              <a:buNone/>
              <a:defRPr sz="1575" b="0">
                <a:solidFill>
                  <a:srgbClr val="172C40"/>
                </a:solidFill>
                <a:latin typeface="DejaVu Sans"/>
                <a:ea typeface="DejaVu Sans"/>
                <a:cs typeface="DejaVu Sans"/>
              </a:defRPr>
            </a:lvl1pPr>
            <a:lvl2pPr>
              <a:buNone/>
              <a:defRPr sz="1575" b="0">
                <a:solidFill>
                  <a:srgbClr val="172C40"/>
                </a:solidFill>
                <a:latin typeface="DejaVu Sans"/>
                <a:ea typeface="DejaVu Sans"/>
                <a:cs typeface="DejaVu Sans"/>
              </a:defRPr>
            </a:lvl2pPr>
            <a:lvl3pPr>
              <a:buNone/>
              <a:defRPr sz="1575" b="0">
                <a:solidFill>
                  <a:srgbClr val="172C40"/>
                </a:solidFill>
                <a:latin typeface="DejaVu Sans"/>
                <a:ea typeface="DejaVu Sans"/>
                <a:cs typeface="DejaVu Sans"/>
              </a:defRPr>
            </a:lvl3pPr>
            <a:lvl4pPr>
              <a:buNone/>
              <a:defRPr sz="1575" b="0">
                <a:solidFill>
                  <a:srgbClr val="172C40"/>
                </a:solidFill>
                <a:latin typeface="DejaVu Sans"/>
                <a:ea typeface="DejaVu Sans"/>
                <a:cs typeface="DejaVu Sans"/>
              </a:defRPr>
            </a:lvl4pPr>
            <a:lvl5pPr>
              <a:buNone/>
              <a:defRPr sz="1575" b="0">
                <a:solidFill>
                  <a:srgbClr val="172C40"/>
                </a:solidFill>
                <a:latin typeface="DejaVu Sans"/>
                <a:ea typeface="DejaVu Sans"/>
                <a:cs typeface="DejaVu Sans"/>
              </a:defRPr>
            </a:lvl5pPr>
            <a:lvl6pPr>
              <a:buNone/>
              <a:defRPr sz="1575" b="0">
                <a:solidFill>
                  <a:srgbClr val="172C40"/>
                </a:solidFill>
                <a:latin typeface="DejaVu Sans"/>
                <a:ea typeface="DejaVu Sans"/>
                <a:cs typeface="DejaVu Sans"/>
              </a:defRPr>
            </a:lvl6pPr>
            <a:lvl7pPr>
              <a:buNone/>
              <a:defRPr sz="1575" b="0">
                <a:solidFill>
                  <a:srgbClr val="172C40"/>
                </a:solidFill>
                <a:latin typeface="DejaVu Sans"/>
                <a:ea typeface="DejaVu Sans"/>
                <a:cs typeface="DejaVu Sans"/>
              </a:defRPr>
            </a:lvl7pPr>
            <a:lvl8pPr>
              <a:buNone/>
              <a:defRPr sz="1575" b="0">
                <a:solidFill>
                  <a:srgbClr val="172C40"/>
                </a:solidFill>
                <a:latin typeface="DejaVu Sans"/>
                <a:ea typeface="DejaVu Sans"/>
                <a:cs typeface="DejaVu Sans"/>
              </a:defRPr>
            </a:lvl8pPr>
            <a:lvl9pPr>
              <a:buNone/>
              <a:defRPr sz="1575" b="0">
                <a:solidFill>
                  <a:srgbClr val="172C40"/>
                </a:solidFill>
                <a:latin typeface="DejaVu Sans"/>
                <a:ea typeface="DejaVu Sans"/>
                <a:cs typeface="DejaVu Sans"/>
              </a:defRPr>
            </a:lvl9pPr>
          </a:lstStyle>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Research question: can validation and clear simplifications preserve the story in a completable 2D game?</a:t>
            </a:r>
          </a:p>
        </p:txBody>
      </p:sp>
    </p:spTree>
    <p:extLst>
      <p:ext uri="{BB962C8B-B14F-4D97-AF65-F5344CB8AC3E}">
        <p14:creationId xmlns:p14="http://schemas.microsoft.com/office/powerpoint/2010/main" val="845067827"/>
      </p:ext>
    </p:extLst>
  </p:cSld>
</p:sld>
</file>

<file path=ppt/slides/slide4.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4FE25BE-BDA6-4E40-A628-3518935DC740}"/>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2A1C068-A32C-42DC-BA45-4C20E289FABB}"/>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Technology direction</a:t>
            </a:r>
          </a:p>
        </p:txBody>
      </p:sp>
      <p:sp>
        <p:nvSpPr>
          <p:cNvPr id="3" name="">
            <a:extLst xmlns:a="http://schemas.openxmlformats.org/drawingml/2006/main">
              <a:ext uri="{FF2B5EF4-FFF2-40B4-BE49-F238E27FC236}">
                <a16:creationId xmlns:a16="http://schemas.microsoft.com/office/drawing/2014/main" id="{29F6AFA2-5DD8-40FD-B9CA-2A6CEB491203}"/>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52E0873-6329-469A-841C-82A143446602}"/>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Preliminary comparison · choices remain subject to feasibility tests</a:t>
            </a:r>
          </a:p>
        </p:txBody>
      </p:sp>
      <p:sp>
        <p:nvSpPr>
          <p:cNvPr id="5" name="">
            <a:extLst xmlns:a="http://schemas.openxmlformats.org/drawingml/2006/main">
              <a:ext uri="{FF2B5EF4-FFF2-40B4-BE49-F238E27FC236}">
                <a16:creationId xmlns:a16="http://schemas.microsoft.com/office/drawing/2014/main" id="{AA6725BA-55E0-4248-B49D-0E8A86AB1F3E}"/>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04</a:t>
            </a:r>
          </a:p>
        </p:txBody>
      </p:sp>
      <p:sp>
        <p:nvSpPr>
          <p:cNvPr id="6" name="">
            <a:extLst xmlns:a="http://schemas.openxmlformats.org/drawingml/2006/main">
              <a:ext uri="{FF2B5EF4-FFF2-40B4-BE49-F238E27FC236}">
                <a16:creationId xmlns:a16="http://schemas.microsoft.com/office/drawing/2014/main" id="{DF930EF8-FE26-4766-B3E4-B421110D77C0}"/>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Three decisions for a bounded first version</a:t>
            </a:r>
          </a:p>
        </p:txBody>
      </p:sp>
      <p:sp>
        <p:nvSpPr>
          <p:cNvPr id="7" name="">
            <a:extLst xmlns:a="http://schemas.openxmlformats.org/drawingml/2006/main">
              <a:ext uri="{FF2B5EF4-FFF2-40B4-BE49-F238E27FC236}">
                <a16:creationId xmlns:a16="http://schemas.microsoft.com/office/drawing/2014/main" id="{30D92736-56DE-4E1D-9ABD-B85C0934DC45}"/>
              </a:ext>
            </a:extLst>
          </p:cNvPr>
          <p:cNvSpPr>
            <a:spLocks xmlns:a="http://schemas.openxmlformats.org/drawingml/2006/main" noGrp="1"/>
          </p:cNvSpPr>
          <p:nvPr/>
        </p:nvSpPr>
        <p:spPr>
          <a:xfrm xmlns:a="http://schemas.openxmlformats.org/drawingml/2006/main">
            <a:off x="609600" y="2400300"/>
            <a:ext cx="9525" cy="34099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2443F1A-5BF8-44C0-B0E2-588C6143511A}"/>
              </a:ext>
            </a:extLst>
          </p:cNvPr>
          <p:cNvSpPr>
            <a:spLocks xmlns:a="http://schemas.openxmlformats.org/drawingml/2006/main" noGrp="1"/>
          </p:cNvSpPr>
          <p:nvPr/>
        </p:nvSpPr>
        <p:spPr>
          <a:xfrm xmlns:a="http://schemas.openxmlformats.org/drawingml/2006/main">
            <a:off x="3171825" y="2400300"/>
            <a:ext cx="9525" cy="34099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C37426-0331-4DF1-848B-864961F33F2C}"/>
              </a:ext>
            </a:extLst>
          </p:cNvPr>
          <p:cNvSpPr>
            <a:spLocks xmlns:a="http://schemas.openxmlformats.org/drawingml/2006/main" noGrp="1"/>
          </p:cNvSpPr>
          <p:nvPr/>
        </p:nvSpPr>
        <p:spPr>
          <a:xfrm xmlns:a="http://schemas.openxmlformats.org/drawingml/2006/main">
            <a:off x="7210425" y="2400300"/>
            <a:ext cx="9525" cy="34099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8E5BF1-38A7-4B53-B3A5-337C3992442B}"/>
              </a:ext>
            </a:extLst>
          </p:cNvPr>
          <p:cNvSpPr>
            <a:spLocks xmlns:a="http://schemas.openxmlformats.org/drawingml/2006/main" noGrp="1"/>
          </p:cNvSpPr>
          <p:nvPr/>
        </p:nvSpPr>
        <p:spPr>
          <a:xfrm xmlns:a="http://schemas.openxmlformats.org/drawingml/2006/main">
            <a:off x="11582400" y="2400300"/>
            <a:ext cx="9525" cy="34099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EFCA7EA-8DDC-4B74-86A8-62AB0536E722}"/>
              </a:ext>
            </a:extLst>
          </p:cNvPr>
          <p:cNvSpPr>
            <a:spLocks xmlns:a="http://schemas.openxmlformats.org/drawingml/2006/main" noGrp="1"/>
          </p:cNvSpPr>
          <p:nvPr/>
        </p:nvSpPr>
        <p:spPr>
          <a:xfrm xmlns:a="http://schemas.openxmlformats.org/drawingml/2006/main">
            <a:off x="609600" y="24003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A233D44-F45B-41BB-9615-9DCC6C075485}"/>
              </a:ext>
            </a:extLst>
          </p:cNvPr>
          <p:cNvSpPr>
            <a:spLocks xmlns:a="http://schemas.openxmlformats.org/drawingml/2006/main" noGrp="1"/>
          </p:cNvSpPr>
          <p:nvPr/>
        </p:nvSpPr>
        <p:spPr>
          <a:xfrm xmlns:a="http://schemas.openxmlformats.org/drawingml/2006/main">
            <a:off x="609600" y="280987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2988474-3455-4819-A85B-D765E4FF34AB}"/>
              </a:ext>
            </a:extLst>
          </p:cNvPr>
          <p:cNvSpPr>
            <a:spLocks xmlns:a="http://schemas.openxmlformats.org/drawingml/2006/main" noGrp="1"/>
          </p:cNvSpPr>
          <p:nvPr/>
        </p:nvSpPr>
        <p:spPr>
          <a:xfrm xmlns:a="http://schemas.openxmlformats.org/drawingml/2006/main">
            <a:off x="609600" y="3810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2387B0-F692-4F52-93E2-C5E9D14EE93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4E3827D-1D41-4E4F-9C2C-15BD84DE09AE}"/>
              </a:ext>
            </a:extLst>
          </p:cNvPr>
          <p:cNvSpPr>
            <a:spLocks xmlns:a="http://schemas.openxmlformats.org/drawingml/2006/main" noGrp="1"/>
          </p:cNvSpPr>
          <p:nvPr/>
        </p:nvSpPr>
        <p:spPr>
          <a:xfrm xmlns:a="http://schemas.openxmlformats.org/drawingml/2006/main">
            <a:off x="609600" y="58102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6CCFCFF-4D19-486F-B2C5-1230B2778E5B}"/>
              </a:ext>
            </a:extLst>
          </p:cNvPr>
          <p:cNvSpPr>
            <a:spLocks xmlns:a="http://schemas.openxmlformats.org/drawingml/2006/main" noGrp="1"/>
          </p:cNvSpPr>
          <p:nvPr/>
        </p:nvSpPr>
        <p:spPr>
          <a:xfrm xmlns:a="http://schemas.openxmlformats.org/drawingml/2006/main">
            <a:off x="762000" y="2476500"/>
            <a:ext cx="2266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Decision</a:t>
            </a:r>
          </a:p>
        </p:txBody>
      </p:sp>
      <p:sp>
        <p:nvSpPr>
          <p:cNvPr id="17" name="">
            <a:extLst xmlns:a="http://schemas.openxmlformats.org/drawingml/2006/main">
              <a:ext uri="{FF2B5EF4-FFF2-40B4-BE49-F238E27FC236}">
                <a16:creationId xmlns:a16="http://schemas.microsoft.com/office/drawing/2014/main" id="{0DE0F598-4494-4357-A13E-B3D6C938BD5D}"/>
              </a:ext>
            </a:extLst>
          </p:cNvPr>
          <p:cNvSpPr>
            <a:spLocks xmlns:a="http://schemas.openxmlformats.org/drawingml/2006/main" noGrp="1"/>
          </p:cNvSpPr>
          <p:nvPr/>
        </p:nvSpPr>
        <p:spPr>
          <a:xfrm xmlns:a="http://schemas.openxmlformats.org/drawingml/2006/main">
            <a:off x="3324225" y="2476500"/>
            <a:ext cx="3733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Alternatives</a:t>
            </a:r>
          </a:p>
        </p:txBody>
      </p:sp>
      <p:sp>
        <p:nvSpPr>
          <p:cNvPr id="18" name="">
            <a:extLst xmlns:a="http://schemas.openxmlformats.org/drawingml/2006/main">
              <a:ext uri="{FF2B5EF4-FFF2-40B4-BE49-F238E27FC236}">
                <a16:creationId xmlns:a16="http://schemas.microsoft.com/office/drawing/2014/main" id="{CAF5489D-3267-46B4-B9A0-15374FFAB1C0}"/>
              </a:ext>
            </a:extLst>
          </p:cNvPr>
          <p:cNvSpPr>
            <a:spLocks xmlns:a="http://schemas.openxmlformats.org/drawingml/2006/main" noGrp="1"/>
          </p:cNvSpPr>
          <p:nvPr/>
        </p:nvSpPr>
        <p:spPr>
          <a:xfrm xmlns:a="http://schemas.openxmlformats.org/drawingml/2006/main">
            <a:off x="7362825" y="2476500"/>
            <a:ext cx="4038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Provisional direction</a:t>
            </a:r>
          </a:p>
        </p:txBody>
      </p:sp>
      <p:sp>
        <p:nvSpPr>
          <p:cNvPr id="19" name="">
            <a:extLst xmlns:a="http://schemas.openxmlformats.org/drawingml/2006/main">
              <a:ext uri="{FF2B5EF4-FFF2-40B4-BE49-F238E27FC236}">
                <a16:creationId xmlns:a16="http://schemas.microsoft.com/office/drawing/2014/main" id="{C22C78EC-7D30-4CFC-A440-CF8C45AD81BC}"/>
              </a:ext>
            </a:extLst>
          </p:cNvPr>
          <p:cNvSpPr>
            <a:spLocks xmlns:a="http://schemas.openxmlformats.org/drawingml/2006/main" noGrp="1"/>
          </p:cNvSpPr>
          <p:nvPr/>
        </p:nvSpPr>
        <p:spPr>
          <a:xfrm xmlns:a="http://schemas.openxmlformats.org/drawingml/2006/main">
            <a:off x="762000" y="2971800"/>
            <a:ext cx="2266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Server and jobs</a:t>
            </a:r>
          </a:p>
        </p:txBody>
      </p:sp>
      <p:sp>
        <p:nvSpPr>
          <p:cNvPr id="20" name="">
            <a:extLst xmlns:a="http://schemas.openxmlformats.org/drawingml/2006/main">
              <a:ext uri="{FF2B5EF4-FFF2-40B4-BE49-F238E27FC236}">
                <a16:creationId xmlns:a16="http://schemas.microsoft.com/office/drawing/2014/main" id="{F96B5936-625D-408D-9415-6F437987C563}"/>
              </a:ext>
            </a:extLst>
          </p:cNvPr>
          <p:cNvSpPr>
            <a:spLocks xmlns:a="http://schemas.openxmlformats.org/drawingml/2006/main" noGrp="1"/>
          </p:cNvSpPr>
          <p:nvPr/>
        </p:nvSpPr>
        <p:spPr>
          <a:xfrm xmlns:a="http://schemas.openxmlformats.org/drawingml/2006/main">
            <a:off x="3324225" y="297180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Spring Boot + RabbitMQ</a:t>
            </a:r>
          </a:p>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FastAPI + Celery</a:t>
            </a:r>
          </a:p>
        </p:txBody>
      </p:sp>
      <p:sp>
        <p:nvSpPr>
          <p:cNvPr id="21" name="">
            <a:extLst xmlns:a="http://schemas.openxmlformats.org/drawingml/2006/main">
              <a:ext uri="{FF2B5EF4-FFF2-40B4-BE49-F238E27FC236}">
                <a16:creationId xmlns:a16="http://schemas.microsoft.com/office/drawing/2014/main" id="{D5C3F5F8-CB04-421B-ABB6-5A9546FB9F8C}"/>
              </a:ext>
            </a:extLst>
          </p:cNvPr>
          <p:cNvSpPr>
            <a:spLocks xmlns:a="http://schemas.openxmlformats.org/drawingml/2006/main" noGrp="1"/>
          </p:cNvSpPr>
          <p:nvPr/>
        </p:nvSpPr>
        <p:spPr>
          <a:xfrm xmlns:a="http://schemas.openxmlformats.org/drawingml/2006/main">
            <a:off x="7362825" y="2971800"/>
            <a:ext cx="4038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Compare durable status and team fit</a:t>
            </a:r>
          </a:p>
        </p:txBody>
      </p:sp>
      <p:sp>
        <p:nvSpPr>
          <p:cNvPr id="22" name="">
            <a:extLst xmlns:a="http://schemas.openxmlformats.org/drawingml/2006/main">
              <a:ext uri="{FF2B5EF4-FFF2-40B4-BE49-F238E27FC236}">
                <a16:creationId xmlns:a16="http://schemas.microsoft.com/office/drawing/2014/main" id="{382DA64F-7276-497D-839B-2BE125287CC5}"/>
              </a:ext>
            </a:extLst>
          </p:cNvPr>
          <p:cNvSpPr>
            <a:spLocks xmlns:a="http://schemas.openxmlformats.org/drawingml/2006/main" noGrp="1"/>
          </p:cNvSpPr>
          <p:nvPr/>
        </p:nvSpPr>
        <p:spPr>
          <a:xfrm xmlns:a="http://schemas.openxmlformats.org/drawingml/2006/main">
            <a:off x="762000" y="3971925"/>
            <a:ext cx="2266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Generation</a:t>
            </a:r>
          </a:p>
        </p:txBody>
      </p:sp>
      <p:sp>
        <p:nvSpPr>
          <p:cNvPr id="23" name="">
            <a:extLst xmlns:a="http://schemas.openxmlformats.org/drawingml/2006/main">
              <a:ext uri="{FF2B5EF4-FFF2-40B4-BE49-F238E27FC236}">
                <a16:creationId xmlns:a16="http://schemas.microsoft.com/office/drawing/2014/main" id="{D1DCEDB3-5114-4D76-B531-1B41BB48E454}"/>
              </a:ext>
            </a:extLst>
          </p:cNvPr>
          <p:cNvSpPr>
            <a:spLocks xmlns:a="http://schemas.openxmlformats.org/drawingml/2006/main" noGrp="1"/>
          </p:cNvSpPr>
          <p:nvPr/>
        </p:nvSpPr>
        <p:spPr>
          <a:xfrm xmlns:a="http://schemas.openxmlformats.org/drawingml/2006/main">
            <a:off x="3324225" y="397192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Direct code · structured data · templates</a:t>
            </a:r>
          </a:p>
        </p:txBody>
      </p:sp>
      <p:sp>
        <p:nvSpPr>
          <p:cNvPr id="24" name="">
            <a:extLst xmlns:a="http://schemas.openxmlformats.org/drawingml/2006/main">
              <a:ext uri="{FF2B5EF4-FFF2-40B4-BE49-F238E27FC236}">
                <a16:creationId xmlns:a16="http://schemas.microsoft.com/office/drawing/2014/main" id="{75F2E67D-2B3F-4664-BC1F-9235212F8E51}"/>
              </a:ext>
            </a:extLst>
          </p:cNvPr>
          <p:cNvSpPr>
            <a:spLocks xmlns:a="http://schemas.openxmlformats.org/drawingml/2006/main" noGrp="1"/>
          </p:cNvSpPr>
          <p:nvPr/>
        </p:nvSpPr>
        <p:spPr>
          <a:xfrm xmlns:a="http://schemas.openxmlformats.org/drawingml/2006/main">
            <a:off x="7362825" y="3971925"/>
            <a:ext cx="4038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Test a validated game specification</a:t>
            </a:r>
          </a:p>
        </p:txBody>
      </p:sp>
      <p:sp>
        <p:nvSpPr>
          <p:cNvPr id="25" name="">
            <a:extLst xmlns:a="http://schemas.openxmlformats.org/drawingml/2006/main">
              <a:ext uri="{FF2B5EF4-FFF2-40B4-BE49-F238E27FC236}">
                <a16:creationId xmlns:a16="http://schemas.microsoft.com/office/drawing/2014/main" id="{CB724F99-2BEC-445D-91D9-102AE419CEB6}"/>
              </a:ext>
            </a:extLst>
          </p:cNvPr>
          <p:cNvSpPr>
            <a:spLocks xmlns:a="http://schemas.openxmlformats.org/drawingml/2006/main" noGrp="1"/>
          </p:cNvSpPr>
          <p:nvPr/>
        </p:nvSpPr>
        <p:spPr>
          <a:xfrm xmlns:a="http://schemas.openxmlformats.org/drawingml/2006/main">
            <a:off x="762000" y="4972050"/>
            <a:ext cx="2266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Browser runtime</a:t>
            </a:r>
          </a:p>
        </p:txBody>
      </p:sp>
      <p:sp>
        <p:nvSpPr>
          <p:cNvPr id="26" name="">
            <a:extLst xmlns:a="http://schemas.openxmlformats.org/drawingml/2006/main">
              <a:ext uri="{FF2B5EF4-FFF2-40B4-BE49-F238E27FC236}">
                <a16:creationId xmlns:a16="http://schemas.microsoft.com/office/drawing/2014/main" id="{C65BF121-02CE-42A7-8271-E12CA9BA323D}"/>
              </a:ext>
            </a:extLst>
          </p:cNvPr>
          <p:cNvSpPr>
            <a:spLocks xmlns:a="http://schemas.openxmlformats.org/drawingml/2006/main" noGrp="1"/>
          </p:cNvSpPr>
          <p:nvPr/>
        </p:nvSpPr>
        <p:spPr>
          <a:xfrm xmlns:a="http://schemas.openxmlformats.org/drawingml/2006/main">
            <a:off x="3324225" y="49720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Phaser · PixiJS · Godot web export</a:t>
            </a:r>
          </a:p>
        </p:txBody>
      </p:sp>
      <p:sp>
        <p:nvSpPr>
          <p:cNvPr id="27" name="">
            <a:extLst xmlns:a="http://schemas.openxmlformats.org/drawingml/2006/main">
              <a:ext uri="{FF2B5EF4-FFF2-40B4-BE49-F238E27FC236}">
                <a16:creationId xmlns:a16="http://schemas.microsoft.com/office/drawing/2014/main" id="{1A7C1B59-DF8C-4CDA-970E-5CEB4D158983}"/>
              </a:ext>
            </a:extLst>
          </p:cNvPr>
          <p:cNvSpPr>
            <a:spLocks xmlns:a="http://schemas.openxmlformats.org/drawingml/2006/main" noGrp="1"/>
          </p:cNvSpPr>
          <p:nvPr/>
        </p:nvSpPr>
        <p:spPr>
          <a:xfrm xmlns:a="http://schemas.openxmlformats.org/drawingml/2006/main">
            <a:off x="7362825" y="4972050"/>
            <a:ext cx="4038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Test Phaser with a manual game</a:t>
            </a:r>
          </a:p>
        </p:txBody>
      </p:sp>
    </p:spTree>
    <p:extLst>
      <p:ext uri="{BB962C8B-B14F-4D97-AF65-F5344CB8AC3E}">
        <p14:creationId xmlns:p14="http://schemas.microsoft.com/office/powerpoint/2010/main" val="1166909511"/>
      </p:ext>
    </p:extLst>
  </p:cSld>
</p:sld>
</file>

<file path=ppt/slides/slide5.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145943-90F0-4285-A634-C8EAA5129B11}"/>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645A96-DD0C-4B99-B01E-9FF5605A5816}"/>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Proposed author journey</a:t>
            </a:r>
          </a:p>
        </p:txBody>
      </p:sp>
      <p:sp>
        <p:nvSpPr>
          <p:cNvPr id="3" name="">
            <a:extLst xmlns:a="http://schemas.openxmlformats.org/drawingml/2006/main">
              <a:ext uri="{FF2B5EF4-FFF2-40B4-BE49-F238E27FC236}">
                <a16:creationId xmlns:a16="http://schemas.microsoft.com/office/drawing/2014/main" id="{C672C30D-C808-4722-84FD-37EE2F3784CB}"/>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8386130-A35D-42AE-BFC8-1CCB422DB75D}"/>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Static UX concept · functional and quality requirements remain drafts</a:t>
            </a:r>
          </a:p>
        </p:txBody>
      </p:sp>
      <p:sp>
        <p:nvSpPr>
          <p:cNvPr id="5" name="">
            <a:extLst xmlns:a="http://schemas.openxmlformats.org/drawingml/2006/main">
              <a:ext uri="{FF2B5EF4-FFF2-40B4-BE49-F238E27FC236}">
                <a16:creationId xmlns:a16="http://schemas.microsoft.com/office/drawing/2014/main" id="{43F8FD2A-48F7-4FCE-844F-4D1625A1DA78}"/>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05</a:t>
            </a:r>
          </a:p>
        </p:txBody>
      </p:sp>
      <p:sp>
        <p:nvSpPr>
          <p:cNvPr id="6" name="">
            <a:extLst xmlns:a="http://schemas.openxmlformats.org/drawingml/2006/main">
              <a:ext uri="{FF2B5EF4-FFF2-40B4-BE49-F238E27FC236}">
                <a16:creationId xmlns:a16="http://schemas.microsoft.com/office/drawing/2014/main" id="{00D2746C-0C86-4898-9987-92223CC108CB}"/>
              </a:ext>
            </a:extLst>
          </p:cNvPr>
          <p:cNvSpPr>
            <a:spLocks xmlns:a="http://schemas.openxmlformats.org/drawingml/2006/main" noGrp="1"/>
          </p:cNvSpPr>
          <p:nvPr/>
        </p:nvSpPr>
        <p:spPr>
          <a:xfrm xmlns:a="http://schemas.openxmlformats.org/drawingml/2006/main">
            <a:off x="685800" y="1647825"/>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Static result concept</a:t>
            </a:r>
          </a:p>
        </p:txBody>
      </p:sp>
      <p:pic>
        <p:nvPicPr>
          <p:cNvPr id="7" name="">
            <a:extLst xmlns:a="http://schemas.openxmlformats.org/drawingml/2006/main">
              <a:ext uri="{FF2B5EF4-FFF2-40B4-BE49-F238E27FC236}">
                <a16:creationId xmlns:a16="http://schemas.microsoft.com/office/drawing/2014/main" id="{F919C892-71B1-4747-BA3E-CA8B3A22C022}"/>
              </a:ext>
            </a:extLst>
          </p:cNvPr>
          <p:cNvPicPr>
            <a:picLocks xmlns:a="http://schemas.openxmlformats.org/drawingml/2006/main" noChangeAspect="1"/>
          </p:cNvPicPr>
          <p:nvPr/>
        </p:nvPicPr>
        <p:blipFill>
          <a:blip xmlns:r="http://schemas.openxmlformats.org/officeDocument/2006/relationships" xmlns:a="http://schemas.openxmlformats.org/drawingml/2006/main" r:embed="R555a6ff2fd6542fe"/>
          <a:stretch xmlns:a="http://schemas.openxmlformats.org/drawingml/2006/main"/>
        </p:blipFill>
        <p:spPr>
          <a:xfrm xmlns:a="http://schemas.openxmlformats.org/drawingml/2006/main">
            <a:off x="688153" y="1952625"/>
            <a:ext cx="6186544" cy="39243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70F652-82F0-4B55-ABA7-3392C8BA6832}"/>
              </a:ext>
            </a:extLst>
          </p:cNvPr>
          <p:cNvSpPr>
            <a:spLocks xmlns:a="http://schemas.openxmlformats.org/drawingml/2006/main" noGrp="1"/>
          </p:cNvSpPr>
          <p:nvPr/>
        </p:nvSpPr>
        <p:spPr>
          <a:xfrm xmlns:a="http://schemas.openxmlformats.org/drawingml/2006/main">
            <a:off x="7353300" y="1781175"/>
            <a:ext cx="411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1">
                <a:solidFill>
                  <a:srgbClr val="2E6478"/>
                </a:solidFill>
                <a:latin typeface="DejaVu Sans"/>
                <a:ea typeface="DejaVu Sans"/>
                <a:cs typeface="DejaVu Sans"/>
              </a:defRPr>
            </a:defPPr>
            <a:lvl1pPr>
              <a:buNone/>
              <a:defRPr sz="1950" b="1">
                <a:solidFill>
                  <a:srgbClr val="2E6478"/>
                </a:solidFill>
                <a:latin typeface="DejaVu Sans"/>
                <a:ea typeface="DejaVu Sans"/>
                <a:cs typeface="DejaVu Sans"/>
              </a:defRPr>
            </a:lvl1pPr>
            <a:lvl2pPr>
              <a:buNone/>
              <a:defRPr sz="1950" b="1">
                <a:solidFill>
                  <a:srgbClr val="2E6478"/>
                </a:solidFill>
                <a:latin typeface="DejaVu Sans"/>
                <a:ea typeface="DejaVu Sans"/>
                <a:cs typeface="DejaVu Sans"/>
              </a:defRPr>
            </a:lvl2pPr>
            <a:lvl3pPr>
              <a:buNone/>
              <a:defRPr sz="1950" b="1">
                <a:solidFill>
                  <a:srgbClr val="2E6478"/>
                </a:solidFill>
                <a:latin typeface="DejaVu Sans"/>
                <a:ea typeface="DejaVu Sans"/>
                <a:cs typeface="DejaVu Sans"/>
              </a:defRPr>
            </a:lvl3pPr>
            <a:lvl4pPr>
              <a:buNone/>
              <a:defRPr sz="1950" b="1">
                <a:solidFill>
                  <a:srgbClr val="2E6478"/>
                </a:solidFill>
                <a:latin typeface="DejaVu Sans"/>
                <a:ea typeface="DejaVu Sans"/>
                <a:cs typeface="DejaVu Sans"/>
              </a:defRPr>
            </a:lvl4pPr>
            <a:lvl5pPr>
              <a:buNone/>
              <a:defRPr sz="1950" b="1">
                <a:solidFill>
                  <a:srgbClr val="2E6478"/>
                </a:solidFill>
                <a:latin typeface="DejaVu Sans"/>
                <a:ea typeface="DejaVu Sans"/>
                <a:cs typeface="DejaVu Sans"/>
              </a:defRPr>
            </a:lvl5pPr>
            <a:lvl6pPr>
              <a:buNone/>
              <a:defRPr sz="1950" b="1">
                <a:solidFill>
                  <a:srgbClr val="2E6478"/>
                </a:solidFill>
                <a:latin typeface="DejaVu Sans"/>
                <a:ea typeface="DejaVu Sans"/>
                <a:cs typeface="DejaVu Sans"/>
              </a:defRPr>
            </a:lvl6pPr>
            <a:lvl7pPr>
              <a:buNone/>
              <a:defRPr sz="1950" b="1">
                <a:solidFill>
                  <a:srgbClr val="2E6478"/>
                </a:solidFill>
                <a:latin typeface="DejaVu Sans"/>
                <a:ea typeface="DejaVu Sans"/>
                <a:cs typeface="DejaVu Sans"/>
              </a:defRPr>
            </a:lvl7pPr>
            <a:lvl8pPr>
              <a:buNone/>
              <a:defRPr sz="1950" b="1">
                <a:solidFill>
                  <a:srgbClr val="2E6478"/>
                </a:solidFill>
                <a:latin typeface="DejaVu Sans"/>
                <a:ea typeface="DejaVu Sans"/>
                <a:cs typeface="DejaVu Sans"/>
              </a:defRPr>
            </a:lvl8pPr>
            <a:lvl9pPr>
              <a:buNone/>
              <a:defRPr sz="1950" b="1">
                <a:solidFill>
                  <a:srgbClr val="2E6478"/>
                </a:solidFill>
                <a:latin typeface="DejaVu Sans"/>
                <a:ea typeface="DejaVu Sans"/>
                <a:cs typeface="DejaVu Sans"/>
              </a:defRPr>
            </a:lvl9pPr>
          </a:lstStyle>
          <a:p xmlns:a="http://schemas.openxmlformats.org/drawingml/2006/main">
            <a:pPr>
              <a:buNone/>
              <a:defRPr sz="1950" b="1">
                <a:solidFill>
                  <a:srgbClr val="2E6478"/>
                </a:solidFill>
                <a:latin typeface="DejaVu Sans"/>
                <a:ea typeface="DejaVu Sans"/>
                <a:cs typeface="DejaVu Sans"/>
              </a:defRPr>
            </a:pPr>
            <a:r>
              <a:rPr sz="1950" b="1">
                <a:solidFill>
                  <a:srgbClr val="2E6478"/>
                </a:solidFill>
                <a:latin typeface="DejaVu Sans"/>
                <a:ea typeface="DejaVu Sans"/>
                <a:cs typeface="DejaVu Sans"/>
              </a:rPr>
              <a:t>Acceptance priorities</a:t>
            </a:r>
          </a:p>
        </p:txBody>
      </p:sp>
      <p:sp>
        <p:nvSpPr>
          <p:cNvPr id="9" name="">
            <a:extLst xmlns:a="http://schemas.openxmlformats.org/drawingml/2006/main">
              <a:ext uri="{FF2B5EF4-FFF2-40B4-BE49-F238E27FC236}">
                <a16:creationId xmlns:a16="http://schemas.microsoft.com/office/drawing/2014/main" id="{407DC85E-3873-453E-B013-0969D41F73A7}"/>
              </a:ext>
            </a:extLst>
          </p:cNvPr>
          <p:cNvSpPr>
            <a:spLocks xmlns:a="http://schemas.openxmlformats.org/drawingml/2006/main" noGrp="1"/>
          </p:cNvSpPr>
          <p:nvPr/>
        </p:nvSpPr>
        <p:spPr>
          <a:xfrm xmlns:a="http://schemas.openxmlformats.org/drawingml/2006/main">
            <a:off x="7353300" y="2381250"/>
            <a:ext cx="4114800" cy="1857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172C40"/>
                </a:solidFill>
                <a:latin typeface="DejaVu Sans"/>
                <a:ea typeface="DejaVu Sans"/>
                <a:cs typeface="DejaVu Sans"/>
              </a:defRPr>
            </a:defPPr>
            <a:lvl1pPr>
              <a:buNone/>
              <a:defRPr sz="1575" b="0">
                <a:solidFill>
                  <a:srgbClr val="172C40"/>
                </a:solidFill>
                <a:latin typeface="DejaVu Sans"/>
                <a:ea typeface="DejaVu Sans"/>
                <a:cs typeface="DejaVu Sans"/>
              </a:defRPr>
            </a:lvl1pPr>
            <a:lvl2pPr>
              <a:buNone/>
              <a:defRPr sz="1575" b="0">
                <a:solidFill>
                  <a:srgbClr val="172C40"/>
                </a:solidFill>
                <a:latin typeface="DejaVu Sans"/>
                <a:ea typeface="DejaVu Sans"/>
                <a:cs typeface="DejaVu Sans"/>
              </a:defRPr>
            </a:lvl2pPr>
            <a:lvl3pPr>
              <a:buNone/>
              <a:defRPr sz="1575" b="0">
                <a:solidFill>
                  <a:srgbClr val="172C40"/>
                </a:solidFill>
                <a:latin typeface="DejaVu Sans"/>
                <a:ea typeface="DejaVu Sans"/>
                <a:cs typeface="DejaVu Sans"/>
              </a:defRPr>
            </a:lvl3pPr>
            <a:lvl4pPr>
              <a:buNone/>
              <a:defRPr sz="1575" b="0">
                <a:solidFill>
                  <a:srgbClr val="172C40"/>
                </a:solidFill>
                <a:latin typeface="DejaVu Sans"/>
                <a:ea typeface="DejaVu Sans"/>
                <a:cs typeface="DejaVu Sans"/>
              </a:defRPr>
            </a:lvl4pPr>
            <a:lvl5pPr>
              <a:buNone/>
              <a:defRPr sz="1575" b="0">
                <a:solidFill>
                  <a:srgbClr val="172C40"/>
                </a:solidFill>
                <a:latin typeface="DejaVu Sans"/>
                <a:ea typeface="DejaVu Sans"/>
                <a:cs typeface="DejaVu Sans"/>
              </a:defRPr>
            </a:lvl5pPr>
            <a:lvl6pPr>
              <a:buNone/>
              <a:defRPr sz="1575" b="0">
                <a:solidFill>
                  <a:srgbClr val="172C40"/>
                </a:solidFill>
                <a:latin typeface="DejaVu Sans"/>
                <a:ea typeface="DejaVu Sans"/>
                <a:cs typeface="DejaVu Sans"/>
              </a:defRPr>
            </a:lvl6pPr>
            <a:lvl7pPr>
              <a:buNone/>
              <a:defRPr sz="1575" b="0">
                <a:solidFill>
                  <a:srgbClr val="172C40"/>
                </a:solidFill>
                <a:latin typeface="DejaVu Sans"/>
                <a:ea typeface="DejaVu Sans"/>
                <a:cs typeface="DejaVu Sans"/>
              </a:defRPr>
            </a:lvl7pPr>
            <a:lvl8pPr>
              <a:buNone/>
              <a:defRPr sz="1575" b="0">
                <a:solidFill>
                  <a:srgbClr val="172C40"/>
                </a:solidFill>
                <a:latin typeface="DejaVu Sans"/>
                <a:ea typeface="DejaVu Sans"/>
                <a:cs typeface="DejaVu Sans"/>
              </a:defRPr>
            </a:lvl8pPr>
            <a:lvl9pPr>
              <a:buNone/>
              <a:defRPr sz="1575" b="0">
                <a:solidFill>
                  <a:srgbClr val="172C40"/>
                </a:solidFill>
                <a:latin typeface="DejaVu Sans"/>
                <a:ea typeface="DejaVu Sans"/>
                <a:cs typeface="DejaVu Sans"/>
              </a:defRPr>
            </a:lvl9pPr>
          </a:lstStyle>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1  Preserve story and version</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2  Show recorded job status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3  Launch validated play</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4  Reach an explicit ending</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5  Explain simplifications</a:t>
            </a:r>
          </a:p>
        </p:txBody>
      </p:sp>
      <p:sp>
        <p:nvSpPr>
          <p:cNvPr id="10" name="">
            <a:extLst xmlns:a="http://schemas.openxmlformats.org/drawingml/2006/main">
              <a:ext uri="{FF2B5EF4-FFF2-40B4-BE49-F238E27FC236}">
                <a16:creationId xmlns:a16="http://schemas.microsoft.com/office/drawing/2014/main" id="{333A36BC-5ADF-4544-ABFB-9E47CAD05AD6}"/>
              </a:ext>
            </a:extLst>
          </p:cNvPr>
          <p:cNvSpPr>
            <a:spLocks xmlns:a="http://schemas.openxmlformats.org/drawingml/2006/main" noGrp="1"/>
          </p:cNvSpPr>
          <p:nvPr/>
        </p:nvSpPr>
        <p:spPr>
          <a:xfrm xmlns:a="http://schemas.openxmlformats.org/drawingml/2006/main">
            <a:off x="7353300" y="4581525"/>
            <a:ext cx="4114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526474"/>
                </a:solidFill>
                <a:latin typeface="DejaVu Sans"/>
                <a:ea typeface="DejaVu Sans"/>
                <a:cs typeface="DejaVu Sans"/>
              </a:defRPr>
            </a:defPPr>
            <a:lvl1pPr>
              <a:buNone/>
              <a:defRPr sz="1425" b="0">
                <a:solidFill>
                  <a:srgbClr val="526474"/>
                </a:solidFill>
                <a:latin typeface="DejaVu Sans"/>
                <a:ea typeface="DejaVu Sans"/>
                <a:cs typeface="DejaVu Sans"/>
              </a:defRPr>
            </a:lvl1pPr>
            <a:lvl2pPr>
              <a:buNone/>
              <a:defRPr sz="1425" b="0">
                <a:solidFill>
                  <a:srgbClr val="526474"/>
                </a:solidFill>
                <a:latin typeface="DejaVu Sans"/>
                <a:ea typeface="DejaVu Sans"/>
                <a:cs typeface="DejaVu Sans"/>
              </a:defRPr>
            </a:lvl2pPr>
            <a:lvl3pPr>
              <a:buNone/>
              <a:defRPr sz="1425" b="0">
                <a:solidFill>
                  <a:srgbClr val="526474"/>
                </a:solidFill>
                <a:latin typeface="DejaVu Sans"/>
                <a:ea typeface="DejaVu Sans"/>
                <a:cs typeface="DejaVu Sans"/>
              </a:defRPr>
            </a:lvl3pPr>
            <a:lvl4pPr>
              <a:buNone/>
              <a:defRPr sz="1425" b="0">
                <a:solidFill>
                  <a:srgbClr val="526474"/>
                </a:solidFill>
                <a:latin typeface="DejaVu Sans"/>
                <a:ea typeface="DejaVu Sans"/>
                <a:cs typeface="DejaVu Sans"/>
              </a:defRPr>
            </a:lvl4pPr>
            <a:lvl5pPr>
              <a:buNone/>
              <a:defRPr sz="1425" b="0">
                <a:solidFill>
                  <a:srgbClr val="526474"/>
                </a:solidFill>
                <a:latin typeface="DejaVu Sans"/>
                <a:ea typeface="DejaVu Sans"/>
                <a:cs typeface="DejaVu Sans"/>
              </a:defRPr>
            </a:lvl5pPr>
            <a:lvl6pPr>
              <a:buNone/>
              <a:defRPr sz="1425" b="0">
                <a:solidFill>
                  <a:srgbClr val="526474"/>
                </a:solidFill>
                <a:latin typeface="DejaVu Sans"/>
                <a:ea typeface="DejaVu Sans"/>
                <a:cs typeface="DejaVu Sans"/>
              </a:defRPr>
            </a:lvl6pPr>
            <a:lvl7pPr>
              <a:buNone/>
              <a:defRPr sz="1425" b="0">
                <a:solidFill>
                  <a:srgbClr val="526474"/>
                </a:solidFill>
                <a:latin typeface="DejaVu Sans"/>
                <a:ea typeface="DejaVu Sans"/>
                <a:cs typeface="DejaVu Sans"/>
              </a:defRPr>
            </a:lvl7pPr>
            <a:lvl8pPr>
              <a:buNone/>
              <a:defRPr sz="1425" b="0">
                <a:solidFill>
                  <a:srgbClr val="526474"/>
                </a:solidFill>
                <a:latin typeface="DejaVu Sans"/>
                <a:ea typeface="DejaVu Sans"/>
                <a:cs typeface="DejaVu Sans"/>
              </a:defRPr>
            </a:lvl8pPr>
            <a:lvl9pPr>
              <a:buNone/>
              <a:defRPr sz="1425" b="0">
                <a:solidFill>
                  <a:srgbClr val="526474"/>
                </a:solidFill>
                <a:latin typeface="DejaVu Sans"/>
                <a:ea typeface="DejaVu Sans"/>
                <a:cs typeface="DejaVu Sans"/>
              </a:defRPr>
            </a:lvl9pPr>
          </a:lstStyle>
          <a:p xmlns:a="http://schemas.openxmlformats.org/drawingml/2006/main">
            <a:pPr>
              <a:buNone/>
              <a:defRPr sz="1425" b="0">
                <a:solidFill>
                  <a:srgbClr val="526474"/>
                </a:solidFill>
                <a:latin typeface="DejaVu Sans"/>
                <a:ea typeface="DejaVu Sans"/>
                <a:cs typeface="DejaVu Sans"/>
              </a:defRPr>
            </a:pPr>
            <a:r>
              <a:rPr sz="1425" b="0">
                <a:solidFill>
                  <a:srgbClr val="526474"/>
                </a:solidFill>
                <a:latin typeface="DejaVu Sans"/>
                <a:ea typeface="DejaVu Sans"/>
                <a:cs typeface="DejaVu Sans"/>
              </a:rPr>
              <a:t>Quality: reject invalid content; support keyboard controls.</a:t>
            </a:r>
          </a:p>
          <a:p xmlns:a="http://schemas.openxmlformats.org/drawingml/2006/main">
            <a:pPr>
              <a:buNone/>
              <a:defRPr sz="1425" b="0">
                <a:solidFill>
                  <a:srgbClr val="526474"/>
                </a:solidFill>
                <a:latin typeface="DejaVu Sans"/>
                <a:ea typeface="DejaVu Sans"/>
                <a:cs typeface="DejaVu Sans"/>
              </a:defRPr>
            </a:pPr>
            <a:r>
              <a:rPr sz="1425" b="0">
                <a:solidFill>
                  <a:srgbClr val="526474"/>
                </a:solidFill>
                <a:latin typeface="DejaVu Sans"/>
                <a:ea typeface="DejaVu Sans"/>
                <a:cs typeface="DejaVu Sans"/>
              </a:rPr>
              <a:t>This is a static wireframe.</a:t>
            </a:r>
          </a:p>
        </p:txBody>
      </p:sp>
    </p:spTree>
    <p:extLst>
      <p:ext uri="{BB962C8B-B14F-4D97-AF65-F5344CB8AC3E}">
        <p14:creationId xmlns:p14="http://schemas.microsoft.com/office/powerpoint/2010/main" val="1968892164"/>
      </p:ext>
    </p:extLst>
  </p:cSld>
</p:sld>
</file>

<file path=ppt/slides/slide6.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DD164B-BBC0-4706-A94A-EDA19D5C0ECE}"/>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A102041-758F-46CE-A7F7-1599D869CEA8}"/>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Proposed component architecture</a:t>
            </a:r>
          </a:p>
        </p:txBody>
      </p:sp>
      <p:sp>
        <p:nvSpPr>
          <p:cNvPr id="3" name="">
            <a:extLst xmlns:a="http://schemas.openxmlformats.org/drawingml/2006/main">
              <a:ext uri="{FF2B5EF4-FFF2-40B4-BE49-F238E27FC236}">
                <a16:creationId xmlns:a16="http://schemas.microsoft.com/office/drawing/2014/main" id="{46BB43D8-852E-49D0-B373-EDBAAEB7E7A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0B7BD2E-D66C-4E4C-B9F4-A09AD4E4EBE6}"/>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Diagram export · editable source in diagrams/component.mmd</a:t>
            </a:r>
          </a:p>
        </p:txBody>
      </p:sp>
      <p:sp>
        <p:nvSpPr>
          <p:cNvPr id="5" name="">
            <a:extLst xmlns:a="http://schemas.openxmlformats.org/drawingml/2006/main">
              <a:ext uri="{FF2B5EF4-FFF2-40B4-BE49-F238E27FC236}">
                <a16:creationId xmlns:a16="http://schemas.microsoft.com/office/drawing/2014/main" id="{2AF2401C-E67B-4BE6-B0F6-C324CC8FFCBE}"/>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06</a:t>
            </a:r>
          </a:p>
        </p:txBody>
      </p:sp>
      <p:pic>
        <p:nvPicPr>
          <p:cNvPr id="6" name="">
            <a:extLst xmlns:a="http://schemas.openxmlformats.org/drawingml/2006/main">
              <a:ext uri="{FF2B5EF4-FFF2-40B4-BE49-F238E27FC236}">
                <a16:creationId xmlns:a16="http://schemas.microsoft.com/office/drawing/2014/main" id="{B1EC4774-8A48-40E4-A95D-E822BA6C5C57}"/>
              </a:ext>
            </a:extLst>
          </p:cNvPr>
          <p:cNvPicPr>
            <a:picLocks xmlns:a="http://schemas.openxmlformats.org/drawingml/2006/main" noChangeAspect="1"/>
          </p:cNvPicPr>
          <p:nvPr/>
        </p:nvPicPr>
        <p:blipFill>
          <a:blip xmlns:r="http://schemas.openxmlformats.org/officeDocument/2006/relationships" xmlns:a="http://schemas.openxmlformats.org/drawingml/2006/main" r:embed="Rbfb5d10a49d04e31"/>
          <a:stretch xmlns:a="http://schemas.openxmlformats.org/drawingml/2006/main"/>
        </p:blipFill>
        <p:spPr>
          <a:xfrm xmlns:a="http://schemas.openxmlformats.org/drawingml/2006/main">
            <a:off x="1421423" y="1600200"/>
            <a:ext cx="9349154" cy="4419600"/>
          </a:xfrm>
          <a:prstGeom xmlns:a="http://schemas.openxmlformats.org/drawingml/2006/main" prst="rect">
            <a:avLst/>
          </a:prstGeom>
        </p:spPr>
      </p:pic>
    </p:spTree>
    <p:extLst>
      <p:ext uri="{BB962C8B-B14F-4D97-AF65-F5344CB8AC3E}">
        <p14:creationId xmlns:p14="http://schemas.microsoft.com/office/powerpoint/2010/main" val="886005767"/>
      </p:ext>
    </p:extLst>
  </p:cSld>
</p:sld>
</file>

<file path=ppt/slides/slide7.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05D070E-020D-49F0-A091-01AE69B12107}"/>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F0C607A-1DDA-4C0F-A92A-D6AC17A2C10E}"/>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Verification plan</a:t>
            </a:r>
          </a:p>
        </p:txBody>
      </p:sp>
      <p:sp>
        <p:nvSpPr>
          <p:cNvPr id="3" name="">
            <a:extLst xmlns:a="http://schemas.openxmlformats.org/drawingml/2006/main">
              <a:ext uri="{FF2B5EF4-FFF2-40B4-BE49-F238E27FC236}">
                <a16:creationId xmlns:a16="http://schemas.microsoft.com/office/drawing/2014/main" id="{90D1E70A-1F1C-473F-8A38-0CA77E804BFF}"/>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4ECFA19-0C02-4054-9734-C73DB7546318}"/>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Planned protocol · measurements follow implementation</a:t>
            </a:r>
          </a:p>
        </p:txBody>
      </p:sp>
      <p:sp>
        <p:nvSpPr>
          <p:cNvPr id="5" name="">
            <a:extLst xmlns:a="http://schemas.openxmlformats.org/drawingml/2006/main">
              <a:ext uri="{FF2B5EF4-FFF2-40B4-BE49-F238E27FC236}">
                <a16:creationId xmlns:a16="http://schemas.microsoft.com/office/drawing/2014/main" id="{52E12D62-CC4D-4901-A522-51096DA6A8C0}"/>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07</a:t>
            </a:r>
          </a:p>
        </p:txBody>
      </p:sp>
      <p:sp>
        <p:nvSpPr>
          <p:cNvPr id="6" name="">
            <a:extLst xmlns:a="http://schemas.openxmlformats.org/drawingml/2006/main">
              <a:ext uri="{FF2B5EF4-FFF2-40B4-BE49-F238E27FC236}">
                <a16:creationId xmlns:a16="http://schemas.microsoft.com/office/drawing/2014/main" id="{C32303C3-6BA2-46C2-BF46-3A269AB50357}"/>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Test the complete path, one outcome at a time</a:t>
            </a:r>
          </a:p>
        </p:txBody>
      </p:sp>
      <p:sp>
        <p:nvSpPr>
          <p:cNvPr id="7" name="">
            <a:extLst xmlns:a="http://schemas.openxmlformats.org/drawingml/2006/main">
              <a:ext uri="{FF2B5EF4-FFF2-40B4-BE49-F238E27FC236}">
                <a16:creationId xmlns:a16="http://schemas.microsoft.com/office/drawing/2014/main" id="{B52502CF-9D5A-422C-83F8-E8C56A90ED3F}"/>
              </a:ext>
            </a:extLst>
          </p:cNvPr>
          <p:cNvSpPr>
            <a:spLocks xmlns:a="http://schemas.openxmlformats.org/drawingml/2006/main" noGrp="1"/>
          </p:cNvSpPr>
          <p:nvPr/>
        </p:nvSpPr>
        <p:spPr>
          <a:xfrm xmlns:a="http://schemas.openxmlformats.org/drawingml/2006/main">
            <a:off x="609600" y="2428875"/>
            <a:ext cx="2571750" cy="2000250"/>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8" name="">
            <a:extLst xmlns:a="http://schemas.openxmlformats.org/drawingml/2006/main">
              <a:ext uri="{FF2B5EF4-FFF2-40B4-BE49-F238E27FC236}">
                <a16:creationId xmlns:a16="http://schemas.microsoft.com/office/drawing/2014/main" id="{2FA06DCB-741D-4155-A8AD-5CD6B4C83A3E}"/>
              </a:ext>
            </a:extLst>
          </p:cNvPr>
          <p:cNvSpPr>
            <a:spLocks xmlns:a="http://schemas.openxmlformats.org/drawingml/2006/main" noGrp="1"/>
          </p:cNvSpPr>
          <p:nvPr/>
        </p:nvSpPr>
        <p:spPr>
          <a:xfrm xmlns:a="http://schemas.openxmlformats.org/drawingml/2006/main">
            <a:off x="800100" y="2600325"/>
            <a:ext cx="6191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E1CF9458-47BB-4A0E-9744-2626AC5EDF0D}"/>
              </a:ext>
            </a:extLst>
          </p:cNvPr>
          <p:cNvSpPr>
            <a:spLocks xmlns:a="http://schemas.openxmlformats.org/drawingml/2006/main" noGrp="1"/>
          </p:cNvSpPr>
          <p:nvPr/>
        </p:nvSpPr>
        <p:spPr>
          <a:xfrm xmlns:a="http://schemas.openxmlformats.org/drawingml/2006/main">
            <a:off x="800100" y="3028950"/>
            <a:ext cx="22574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Manual baseline</a:t>
            </a:r>
          </a:p>
        </p:txBody>
      </p:sp>
      <p:sp>
        <p:nvSpPr>
          <p:cNvPr id="10" name="">
            <a:extLst xmlns:a="http://schemas.openxmlformats.org/drawingml/2006/main">
              <a:ext uri="{FF2B5EF4-FFF2-40B4-BE49-F238E27FC236}">
                <a16:creationId xmlns:a16="http://schemas.microsoft.com/office/drawing/2014/main" id="{73990552-23AF-482B-94E1-2CE666414010}"/>
              </a:ext>
            </a:extLst>
          </p:cNvPr>
          <p:cNvSpPr>
            <a:spLocks xmlns:a="http://schemas.openxmlformats.org/drawingml/2006/main" noGrp="1"/>
          </p:cNvSpPr>
          <p:nvPr/>
        </p:nvSpPr>
        <p:spPr>
          <a:xfrm xmlns:a="http://schemas.openxmlformats.org/drawingml/2006/main">
            <a:off x="800100" y="3533775"/>
            <a:ext cx="225742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Check the fixed browser runtime</a:t>
            </a:r>
          </a:p>
        </p:txBody>
      </p:sp>
      <p:sp>
        <p:nvSpPr>
          <p:cNvPr id="11" name="">
            <a:extLst xmlns:a="http://schemas.openxmlformats.org/drawingml/2006/main">
              <a:ext uri="{FF2B5EF4-FFF2-40B4-BE49-F238E27FC236}">
                <a16:creationId xmlns:a16="http://schemas.microsoft.com/office/drawing/2014/main" id="{CDB52313-6535-43C5-A293-C54C2F3FEB37}"/>
              </a:ext>
            </a:extLst>
          </p:cNvPr>
          <p:cNvSpPr>
            <a:spLocks xmlns:a="http://schemas.openxmlformats.org/drawingml/2006/main" noGrp="1"/>
          </p:cNvSpPr>
          <p:nvPr/>
        </p:nvSpPr>
        <p:spPr>
          <a:xfrm xmlns:a="http://schemas.openxmlformats.org/drawingml/2006/main">
            <a:off x="3181350" y="3257550"/>
            <a:ext cx="238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a:t>
            </a:r>
          </a:p>
        </p:txBody>
      </p:sp>
      <p:sp>
        <p:nvSpPr>
          <p:cNvPr id="12" name="">
            <a:extLst xmlns:a="http://schemas.openxmlformats.org/drawingml/2006/main">
              <a:ext uri="{FF2B5EF4-FFF2-40B4-BE49-F238E27FC236}">
                <a16:creationId xmlns:a16="http://schemas.microsoft.com/office/drawing/2014/main" id="{3AFF85BD-CBD5-4747-B6E8-49BA70D71ED7}"/>
              </a:ext>
            </a:extLst>
          </p:cNvPr>
          <p:cNvSpPr>
            <a:spLocks xmlns:a="http://schemas.openxmlformats.org/drawingml/2006/main" noGrp="1"/>
          </p:cNvSpPr>
          <p:nvPr/>
        </p:nvSpPr>
        <p:spPr>
          <a:xfrm xmlns:a="http://schemas.openxmlformats.org/drawingml/2006/main">
            <a:off x="3409950" y="2428875"/>
            <a:ext cx="2571750" cy="2000250"/>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13" name="">
            <a:extLst xmlns:a="http://schemas.openxmlformats.org/drawingml/2006/main">
              <a:ext uri="{FF2B5EF4-FFF2-40B4-BE49-F238E27FC236}">
                <a16:creationId xmlns:a16="http://schemas.microsoft.com/office/drawing/2014/main" id="{40E627C8-9E81-4C4E-8EBA-E372FFCB36E8}"/>
              </a:ext>
            </a:extLst>
          </p:cNvPr>
          <p:cNvSpPr>
            <a:spLocks xmlns:a="http://schemas.openxmlformats.org/drawingml/2006/main" noGrp="1"/>
          </p:cNvSpPr>
          <p:nvPr/>
        </p:nvSpPr>
        <p:spPr>
          <a:xfrm xmlns:a="http://schemas.openxmlformats.org/drawingml/2006/main">
            <a:off x="3600450" y="2600325"/>
            <a:ext cx="6191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59C457DB-6A61-4CA1-A160-1047779F4510}"/>
              </a:ext>
            </a:extLst>
          </p:cNvPr>
          <p:cNvSpPr>
            <a:spLocks xmlns:a="http://schemas.openxmlformats.org/drawingml/2006/main" noGrp="1"/>
          </p:cNvSpPr>
          <p:nvPr/>
        </p:nvSpPr>
        <p:spPr>
          <a:xfrm xmlns:a="http://schemas.openxmlformats.org/drawingml/2006/main">
            <a:off x="3600450" y="3028950"/>
            <a:ext cx="22574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Valid output</a:t>
            </a:r>
          </a:p>
        </p:txBody>
      </p:sp>
      <p:sp>
        <p:nvSpPr>
          <p:cNvPr id="15" name="">
            <a:extLst xmlns:a="http://schemas.openxmlformats.org/drawingml/2006/main">
              <a:ext uri="{FF2B5EF4-FFF2-40B4-BE49-F238E27FC236}">
                <a16:creationId xmlns:a16="http://schemas.microsoft.com/office/drawing/2014/main" id="{2D381187-BBD3-4828-A0C3-A7BE5C21F722}"/>
              </a:ext>
            </a:extLst>
          </p:cNvPr>
          <p:cNvSpPr>
            <a:spLocks xmlns:a="http://schemas.openxmlformats.org/drawingml/2006/main" noGrp="1"/>
          </p:cNvSpPr>
          <p:nvPr/>
        </p:nvSpPr>
        <p:spPr>
          <a:xfrm xmlns:a="http://schemas.openxmlformats.org/drawingml/2006/main">
            <a:off x="3600450" y="3533775"/>
            <a:ext cx="225742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Record every attempt and validation result</a:t>
            </a:r>
          </a:p>
        </p:txBody>
      </p:sp>
      <p:sp>
        <p:nvSpPr>
          <p:cNvPr id="16" name="">
            <a:extLst xmlns:a="http://schemas.openxmlformats.org/drawingml/2006/main">
              <a:ext uri="{FF2B5EF4-FFF2-40B4-BE49-F238E27FC236}">
                <a16:creationId xmlns:a16="http://schemas.microsoft.com/office/drawing/2014/main" id="{0C8764CC-330D-4DC8-9EB7-31918803BC83}"/>
              </a:ext>
            </a:extLst>
          </p:cNvPr>
          <p:cNvSpPr>
            <a:spLocks xmlns:a="http://schemas.openxmlformats.org/drawingml/2006/main" noGrp="1"/>
          </p:cNvSpPr>
          <p:nvPr/>
        </p:nvSpPr>
        <p:spPr>
          <a:xfrm xmlns:a="http://schemas.openxmlformats.org/drawingml/2006/main">
            <a:off x="5981700" y="3257550"/>
            <a:ext cx="238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a:t>
            </a:r>
          </a:p>
        </p:txBody>
      </p:sp>
      <p:sp>
        <p:nvSpPr>
          <p:cNvPr id="17" name="">
            <a:extLst xmlns:a="http://schemas.openxmlformats.org/drawingml/2006/main">
              <a:ext uri="{FF2B5EF4-FFF2-40B4-BE49-F238E27FC236}">
                <a16:creationId xmlns:a16="http://schemas.microsoft.com/office/drawing/2014/main" id="{3EF859C0-B6C3-45C1-B9A0-322DC785D25B}"/>
              </a:ext>
            </a:extLst>
          </p:cNvPr>
          <p:cNvSpPr>
            <a:spLocks xmlns:a="http://schemas.openxmlformats.org/drawingml/2006/main" noGrp="1"/>
          </p:cNvSpPr>
          <p:nvPr/>
        </p:nvSpPr>
        <p:spPr>
          <a:xfrm xmlns:a="http://schemas.openxmlformats.org/drawingml/2006/main">
            <a:off x="6210300" y="2428875"/>
            <a:ext cx="2571750" cy="2000250"/>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18" name="">
            <a:extLst xmlns:a="http://schemas.openxmlformats.org/drawingml/2006/main">
              <a:ext uri="{FF2B5EF4-FFF2-40B4-BE49-F238E27FC236}">
                <a16:creationId xmlns:a16="http://schemas.microsoft.com/office/drawing/2014/main" id="{2B1052D8-2A94-4528-8E16-2B4160601879}"/>
              </a:ext>
            </a:extLst>
          </p:cNvPr>
          <p:cNvSpPr>
            <a:spLocks xmlns:a="http://schemas.openxmlformats.org/drawingml/2006/main" noGrp="1"/>
          </p:cNvSpPr>
          <p:nvPr/>
        </p:nvSpPr>
        <p:spPr>
          <a:xfrm xmlns:a="http://schemas.openxmlformats.org/drawingml/2006/main">
            <a:off x="6400800" y="2600325"/>
            <a:ext cx="6191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95906B12-9146-419F-A876-D3C7D7481630}"/>
              </a:ext>
            </a:extLst>
          </p:cNvPr>
          <p:cNvSpPr>
            <a:spLocks xmlns:a="http://schemas.openxmlformats.org/drawingml/2006/main" noGrp="1"/>
          </p:cNvSpPr>
          <p:nvPr/>
        </p:nvSpPr>
        <p:spPr>
          <a:xfrm xmlns:a="http://schemas.openxmlformats.org/drawingml/2006/main">
            <a:off x="6400800" y="3028950"/>
            <a:ext cx="22574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Playable result</a:t>
            </a:r>
          </a:p>
        </p:txBody>
      </p:sp>
      <p:sp>
        <p:nvSpPr>
          <p:cNvPr id="20" name="">
            <a:extLst xmlns:a="http://schemas.openxmlformats.org/drawingml/2006/main">
              <a:ext uri="{FF2B5EF4-FFF2-40B4-BE49-F238E27FC236}">
                <a16:creationId xmlns:a16="http://schemas.microsoft.com/office/drawing/2014/main" id="{FC042F0A-06AF-4598-A31D-F76D7BCAB0D4}"/>
              </a:ext>
            </a:extLst>
          </p:cNvPr>
          <p:cNvSpPr>
            <a:spLocks xmlns:a="http://schemas.openxmlformats.org/drawingml/2006/main" noGrp="1"/>
          </p:cNvSpPr>
          <p:nvPr/>
        </p:nvSpPr>
        <p:spPr>
          <a:xfrm xmlns:a="http://schemas.openxmlformats.org/drawingml/2006/main">
            <a:off x="6400800" y="3533775"/>
            <a:ext cx="225742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Test launch, action and ending</a:t>
            </a:r>
          </a:p>
        </p:txBody>
      </p:sp>
      <p:sp>
        <p:nvSpPr>
          <p:cNvPr id="21" name="">
            <a:extLst xmlns:a="http://schemas.openxmlformats.org/drawingml/2006/main">
              <a:ext uri="{FF2B5EF4-FFF2-40B4-BE49-F238E27FC236}">
                <a16:creationId xmlns:a16="http://schemas.microsoft.com/office/drawing/2014/main" id="{59A9BE85-3647-4C11-8415-3121761718E6}"/>
              </a:ext>
            </a:extLst>
          </p:cNvPr>
          <p:cNvSpPr>
            <a:spLocks xmlns:a="http://schemas.openxmlformats.org/drawingml/2006/main" noGrp="1"/>
          </p:cNvSpPr>
          <p:nvPr/>
        </p:nvSpPr>
        <p:spPr>
          <a:xfrm xmlns:a="http://schemas.openxmlformats.org/drawingml/2006/main">
            <a:off x="8782050" y="3257550"/>
            <a:ext cx="238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a:t>
            </a:r>
          </a:p>
        </p:txBody>
      </p:sp>
      <p:sp>
        <p:nvSpPr>
          <p:cNvPr id="22" name="">
            <a:extLst xmlns:a="http://schemas.openxmlformats.org/drawingml/2006/main">
              <a:ext uri="{FF2B5EF4-FFF2-40B4-BE49-F238E27FC236}">
                <a16:creationId xmlns:a16="http://schemas.microsoft.com/office/drawing/2014/main" id="{B5E406D1-85E8-44A6-B6FD-CE7766791F13}"/>
              </a:ext>
            </a:extLst>
          </p:cNvPr>
          <p:cNvSpPr>
            <a:spLocks xmlns:a="http://schemas.openxmlformats.org/drawingml/2006/main" noGrp="1"/>
          </p:cNvSpPr>
          <p:nvPr/>
        </p:nvSpPr>
        <p:spPr>
          <a:xfrm xmlns:a="http://schemas.openxmlformats.org/drawingml/2006/main">
            <a:off x="9010650" y="2428875"/>
            <a:ext cx="2571750" cy="2000250"/>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23" name="">
            <a:extLst xmlns:a="http://schemas.openxmlformats.org/drawingml/2006/main">
              <a:ext uri="{FF2B5EF4-FFF2-40B4-BE49-F238E27FC236}">
                <a16:creationId xmlns:a16="http://schemas.microsoft.com/office/drawing/2014/main" id="{36182765-C881-4181-BD62-8DD00340E723}"/>
              </a:ext>
            </a:extLst>
          </p:cNvPr>
          <p:cNvSpPr>
            <a:spLocks xmlns:a="http://schemas.openxmlformats.org/drawingml/2006/main" noGrp="1"/>
          </p:cNvSpPr>
          <p:nvPr/>
        </p:nvSpPr>
        <p:spPr>
          <a:xfrm xmlns:a="http://schemas.openxmlformats.org/drawingml/2006/main">
            <a:off x="9201150" y="2600325"/>
            <a:ext cx="6191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2E6478"/>
                </a:solidFill>
                <a:latin typeface="DejaVu Sans"/>
                <a:ea typeface="DejaVu Sans"/>
                <a:cs typeface="DejaVu Sans"/>
              </a:defRPr>
            </a:defPPr>
            <a:lvl1pPr>
              <a:buNone/>
              <a:defRPr sz="1500" b="1">
                <a:solidFill>
                  <a:srgbClr val="2E6478"/>
                </a:solidFill>
                <a:latin typeface="DejaVu Sans"/>
                <a:ea typeface="DejaVu Sans"/>
                <a:cs typeface="DejaVu Sans"/>
              </a:defRPr>
            </a:lvl1pPr>
            <a:lvl2pPr>
              <a:buNone/>
              <a:defRPr sz="1500" b="1">
                <a:solidFill>
                  <a:srgbClr val="2E6478"/>
                </a:solidFill>
                <a:latin typeface="DejaVu Sans"/>
                <a:ea typeface="DejaVu Sans"/>
                <a:cs typeface="DejaVu Sans"/>
              </a:defRPr>
            </a:lvl2pPr>
            <a:lvl3pPr>
              <a:buNone/>
              <a:defRPr sz="1500" b="1">
                <a:solidFill>
                  <a:srgbClr val="2E6478"/>
                </a:solidFill>
                <a:latin typeface="DejaVu Sans"/>
                <a:ea typeface="DejaVu Sans"/>
                <a:cs typeface="DejaVu Sans"/>
              </a:defRPr>
            </a:lvl3pPr>
            <a:lvl4pPr>
              <a:buNone/>
              <a:defRPr sz="1500" b="1">
                <a:solidFill>
                  <a:srgbClr val="2E6478"/>
                </a:solidFill>
                <a:latin typeface="DejaVu Sans"/>
                <a:ea typeface="DejaVu Sans"/>
                <a:cs typeface="DejaVu Sans"/>
              </a:defRPr>
            </a:lvl4pPr>
            <a:lvl5pPr>
              <a:buNone/>
              <a:defRPr sz="1500" b="1">
                <a:solidFill>
                  <a:srgbClr val="2E6478"/>
                </a:solidFill>
                <a:latin typeface="DejaVu Sans"/>
                <a:ea typeface="DejaVu Sans"/>
                <a:cs typeface="DejaVu Sans"/>
              </a:defRPr>
            </a:lvl5pPr>
            <a:lvl6pPr>
              <a:buNone/>
              <a:defRPr sz="1500" b="1">
                <a:solidFill>
                  <a:srgbClr val="2E6478"/>
                </a:solidFill>
                <a:latin typeface="DejaVu Sans"/>
                <a:ea typeface="DejaVu Sans"/>
                <a:cs typeface="DejaVu Sans"/>
              </a:defRPr>
            </a:lvl6pPr>
            <a:lvl7pPr>
              <a:buNone/>
              <a:defRPr sz="1500" b="1">
                <a:solidFill>
                  <a:srgbClr val="2E6478"/>
                </a:solidFill>
                <a:latin typeface="DejaVu Sans"/>
                <a:ea typeface="DejaVu Sans"/>
                <a:cs typeface="DejaVu Sans"/>
              </a:defRPr>
            </a:lvl7pPr>
            <a:lvl8pPr>
              <a:buNone/>
              <a:defRPr sz="1500" b="1">
                <a:solidFill>
                  <a:srgbClr val="2E6478"/>
                </a:solidFill>
                <a:latin typeface="DejaVu Sans"/>
                <a:ea typeface="DejaVu Sans"/>
                <a:cs typeface="DejaVu Sans"/>
              </a:defRPr>
            </a:lvl8pPr>
            <a:lvl9pPr>
              <a:buNone/>
              <a:defRPr sz="1500" b="1">
                <a:solidFill>
                  <a:srgbClr val="2E6478"/>
                </a:solidFill>
                <a:latin typeface="DejaVu Sans"/>
                <a:ea typeface="DejaVu Sans"/>
                <a:cs typeface="DejaVu Sans"/>
              </a:defRPr>
            </a:lvl9pPr>
          </a:lstStyle>
          <a:p xmlns:a="http://schemas.openxmlformats.org/drawingml/2006/main">
            <a:pPr>
              <a:buNone/>
              <a:defRPr sz="1500" b="1">
                <a:solidFill>
                  <a:srgbClr val="2E6478"/>
                </a:solidFill>
                <a:latin typeface="DejaVu Sans"/>
                <a:ea typeface="DejaVu Sans"/>
                <a:cs typeface="DejaVu Sans"/>
              </a:defRPr>
            </a:pPr>
            <a:r>
              <a:rPr sz="1500" b="1">
                <a:solidFill>
                  <a:srgbClr val="2E6478"/>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9E090CDB-287C-4018-81B3-203E2BB78F4F}"/>
              </a:ext>
            </a:extLst>
          </p:cNvPr>
          <p:cNvSpPr>
            <a:spLocks xmlns:a="http://schemas.openxmlformats.org/drawingml/2006/main" noGrp="1"/>
          </p:cNvSpPr>
          <p:nvPr/>
        </p:nvSpPr>
        <p:spPr>
          <a:xfrm xmlns:a="http://schemas.openxmlformats.org/drawingml/2006/main">
            <a:off x="9201150" y="3028950"/>
            <a:ext cx="22574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Story fidelity</a:t>
            </a:r>
          </a:p>
        </p:txBody>
      </p:sp>
      <p:sp>
        <p:nvSpPr>
          <p:cNvPr id="25" name="">
            <a:extLst xmlns:a="http://schemas.openxmlformats.org/drawingml/2006/main">
              <a:ext uri="{FF2B5EF4-FFF2-40B4-BE49-F238E27FC236}">
                <a16:creationId xmlns:a16="http://schemas.microsoft.com/office/drawing/2014/main" id="{76AAD79B-F657-475C-AEE2-E2AAE38B63C6}"/>
              </a:ext>
            </a:extLst>
          </p:cNvPr>
          <p:cNvSpPr>
            <a:spLocks xmlns:a="http://schemas.openxmlformats.org/drawingml/2006/main" noGrp="1"/>
          </p:cNvSpPr>
          <p:nvPr/>
        </p:nvSpPr>
        <p:spPr>
          <a:xfrm xmlns:a="http://schemas.openxmlformats.org/drawingml/2006/main">
            <a:off x="9201150" y="3533775"/>
            <a:ext cx="225742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Two reviewers compare game and story</a:t>
            </a:r>
          </a:p>
        </p:txBody>
      </p:sp>
      <p:sp>
        <p:nvSpPr>
          <p:cNvPr id="26" name="">
            <a:extLst xmlns:a="http://schemas.openxmlformats.org/drawingml/2006/main">
              <a:ext uri="{FF2B5EF4-FFF2-40B4-BE49-F238E27FC236}">
                <a16:creationId xmlns:a16="http://schemas.microsoft.com/office/drawing/2014/main" id="{30C08556-0457-4598-93D9-F86132D7D7DD}"/>
              </a:ext>
            </a:extLst>
          </p:cNvPr>
          <p:cNvSpPr>
            <a:spLocks xmlns:a="http://schemas.openxmlformats.org/drawingml/2006/main" noGrp="1"/>
          </p:cNvSpPr>
          <p:nvPr/>
        </p:nvSpPr>
        <p:spPr>
          <a:xfrm xmlns:a="http://schemas.openxmlformats.org/drawingml/2006/main">
            <a:off x="609600" y="5000625"/>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Freeze prompts and conditions. Retain failures and reviewer disagreements.</a:t>
            </a:r>
          </a:p>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Use a manually authored game as the runtime baseline.</a:t>
            </a:r>
          </a:p>
        </p:txBody>
      </p:sp>
    </p:spTree>
    <p:extLst>
      <p:ext uri="{BB962C8B-B14F-4D97-AF65-F5344CB8AC3E}">
        <p14:creationId xmlns:p14="http://schemas.microsoft.com/office/powerpoint/2010/main" val="639705807"/>
      </p:ext>
    </p:extLst>
  </p:cSld>
</p:sld>
</file>

<file path=ppt/slides/slide8.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4F3083C-928F-4EEF-8CEE-78219DD2B471}"/>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F8804F-89C9-4256-A97D-7EF7C9862C03}"/>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Project plan and review</a:t>
            </a:r>
          </a:p>
        </p:txBody>
      </p:sp>
      <p:sp>
        <p:nvSpPr>
          <p:cNvPr id="3" name="">
            <a:extLst xmlns:a="http://schemas.openxmlformats.org/drawingml/2006/main">
              <a:ext uri="{FF2B5EF4-FFF2-40B4-BE49-F238E27FC236}">
                <a16:creationId xmlns:a16="http://schemas.microsoft.com/office/drawing/2014/main" id="{188CE311-D8F3-4DC0-9CF2-6478900BA30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EEF0AA-D79A-4963-A202-1E66F707F2D7}"/>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Provisional roadmap · repository task plan and supervisor scope guidance</a:t>
            </a:r>
          </a:p>
        </p:txBody>
      </p:sp>
      <p:sp>
        <p:nvSpPr>
          <p:cNvPr id="5" name="">
            <a:extLst xmlns:a="http://schemas.openxmlformats.org/drawingml/2006/main">
              <a:ext uri="{FF2B5EF4-FFF2-40B4-BE49-F238E27FC236}">
                <a16:creationId xmlns:a16="http://schemas.microsoft.com/office/drawing/2014/main" id="{77FF0D2F-5CE7-4489-93B4-0241EF6A03F1}"/>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08</a:t>
            </a:r>
          </a:p>
        </p:txBody>
      </p:sp>
      <p:sp>
        <p:nvSpPr>
          <p:cNvPr id="6" name="">
            <a:extLst xmlns:a="http://schemas.openxmlformats.org/drawingml/2006/main">
              <a:ext uri="{FF2B5EF4-FFF2-40B4-BE49-F238E27FC236}">
                <a16:creationId xmlns:a16="http://schemas.microsoft.com/office/drawing/2014/main" id="{87473AF1-30C6-41DD-807A-14AB1DD97D3D}"/>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From agreed scope to a measured playable prototype</a:t>
            </a:r>
          </a:p>
        </p:txBody>
      </p:sp>
      <p:sp>
        <p:nvSpPr>
          <p:cNvPr id="7" name="">
            <a:extLst xmlns:a="http://schemas.openxmlformats.org/drawingml/2006/main">
              <a:ext uri="{FF2B5EF4-FFF2-40B4-BE49-F238E27FC236}">
                <a16:creationId xmlns:a16="http://schemas.microsoft.com/office/drawing/2014/main" id="{E4337B9E-6C8A-4A35-B68B-4630CD05A736}"/>
              </a:ext>
            </a:extLst>
          </p:cNvPr>
          <p:cNvSpPr>
            <a:spLocks xmlns:a="http://schemas.openxmlformats.org/drawingml/2006/main" noGrp="1"/>
          </p:cNvSpPr>
          <p:nvPr/>
        </p:nvSpPr>
        <p:spPr>
          <a:xfrm xmlns:a="http://schemas.openxmlformats.org/drawingml/2006/main">
            <a:off x="1143000" y="2943225"/>
            <a:ext cx="9810750" cy="2857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D7675C-F141-4C97-9F16-BEB2305B4868}"/>
              </a:ext>
            </a:extLst>
          </p:cNvPr>
          <p:cNvSpPr>
            <a:spLocks xmlns:a="http://schemas.openxmlformats.org/drawingml/2006/main" noGrp="1"/>
          </p:cNvSpPr>
          <p:nvPr/>
        </p:nvSpPr>
        <p:spPr>
          <a:xfrm xmlns:a="http://schemas.openxmlformats.org/drawingml/2006/main">
            <a:off x="1000125" y="2752725"/>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FECDBF6-4AFC-4A6D-815D-604665BB7954}"/>
              </a:ext>
            </a:extLst>
          </p:cNvPr>
          <p:cNvSpPr>
            <a:spLocks xmlns:a="http://schemas.openxmlformats.org/drawingml/2006/main" noGrp="1"/>
          </p:cNvSpPr>
          <p:nvPr/>
        </p:nvSpPr>
        <p:spPr>
          <a:xfrm xmlns:a="http://schemas.openxmlformats.org/drawingml/2006/main">
            <a:off x="762000" y="3381375"/>
            <a:ext cx="3286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Mid December</a:t>
            </a:r>
          </a:p>
        </p:txBody>
      </p:sp>
      <p:sp>
        <p:nvSpPr>
          <p:cNvPr id="10" name="">
            <a:extLst xmlns:a="http://schemas.openxmlformats.org/drawingml/2006/main">
              <a:ext uri="{FF2B5EF4-FFF2-40B4-BE49-F238E27FC236}">
                <a16:creationId xmlns:a16="http://schemas.microsoft.com/office/drawing/2014/main" id="{EFC44775-5EF9-4484-AA93-51AF264B5AF8}"/>
              </a:ext>
            </a:extLst>
          </p:cNvPr>
          <p:cNvSpPr>
            <a:spLocks xmlns:a="http://schemas.openxmlformats.org/drawingml/2006/main" noGrp="1"/>
          </p:cNvSpPr>
          <p:nvPr/>
        </p:nvSpPr>
        <p:spPr>
          <a:xfrm xmlns:a="http://schemas.openxmlformats.org/drawingml/2006/main">
            <a:off x="762000" y="3810000"/>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Agree first mechanic set</a:t>
            </a:r>
          </a:p>
        </p:txBody>
      </p:sp>
      <p:sp>
        <p:nvSpPr>
          <p:cNvPr id="11" name="">
            <a:extLst xmlns:a="http://schemas.openxmlformats.org/drawingml/2006/main">
              <a:ext uri="{FF2B5EF4-FFF2-40B4-BE49-F238E27FC236}">
                <a16:creationId xmlns:a16="http://schemas.microsoft.com/office/drawing/2014/main" id="{B4C21500-9264-4814-A7D7-C329DE21CBD3}"/>
              </a:ext>
            </a:extLst>
          </p:cNvPr>
          <p:cNvSpPr>
            <a:spLocks xmlns:a="http://schemas.openxmlformats.org/drawingml/2006/main" noGrp="1"/>
          </p:cNvSpPr>
          <p:nvPr/>
        </p:nvSpPr>
        <p:spPr>
          <a:xfrm xmlns:a="http://schemas.openxmlformats.org/drawingml/2006/main">
            <a:off x="4857750" y="2752725"/>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47C81E-495F-4973-934F-2247EC9DA764}"/>
              </a:ext>
            </a:extLst>
          </p:cNvPr>
          <p:cNvSpPr>
            <a:spLocks xmlns:a="http://schemas.openxmlformats.org/drawingml/2006/main" noGrp="1"/>
          </p:cNvSpPr>
          <p:nvPr/>
        </p:nvSpPr>
        <p:spPr>
          <a:xfrm xmlns:a="http://schemas.openxmlformats.org/drawingml/2006/main">
            <a:off x="4619625" y="3381375"/>
            <a:ext cx="3286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January–March</a:t>
            </a:r>
          </a:p>
        </p:txBody>
      </p:sp>
      <p:sp>
        <p:nvSpPr>
          <p:cNvPr id="13" name="">
            <a:extLst xmlns:a="http://schemas.openxmlformats.org/drawingml/2006/main">
              <a:ext uri="{FF2B5EF4-FFF2-40B4-BE49-F238E27FC236}">
                <a16:creationId xmlns:a16="http://schemas.microsoft.com/office/drawing/2014/main" id="{033EF725-E7EA-441F-A6AC-1473DE99923A}"/>
              </a:ext>
            </a:extLst>
          </p:cNvPr>
          <p:cNvSpPr>
            <a:spLocks xmlns:a="http://schemas.openxmlformats.org/drawingml/2006/main" noGrp="1"/>
          </p:cNvSpPr>
          <p:nvPr/>
        </p:nvSpPr>
        <p:spPr>
          <a:xfrm xmlns:a="http://schemas.openxmlformats.org/drawingml/2006/main">
            <a:off x="4619625" y="3810000"/>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Pilot and integration</a:t>
            </a:r>
          </a:p>
        </p:txBody>
      </p:sp>
      <p:sp>
        <p:nvSpPr>
          <p:cNvPr id="14" name="">
            <a:extLst xmlns:a="http://schemas.openxmlformats.org/drawingml/2006/main">
              <a:ext uri="{FF2B5EF4-FFF2-40B4-BE49-F238E27FC236}">
                <a16:creationId xmlns:a16="http://schemas.microsoft.com/office/drawing/2014/main" id="{9E2E5162-1FD1-47BD-8374-AC04421A7333}"/>
              </a:ext>
            </a:extLst>
          </p:cNvPr>
          <p:cNvSpPr>
            <a:spLocks xmlns:a="http://schemas.openxmlformats.org/drawingml/2006/main" noGrp="1"/>
          </p:cNvSpPr>
          <p:nvPr/>
        </p:nvSpPr>
        <p:spPr>
          <a:xfrm xmlns:a="http://schemas.openxmlformats.org/drawingml/2006/main">
            <a:off x="8715375" y="2752725"/>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9B42522-5B9A-49E5-8C26-E02E16927AA9}"/>
              </a:ext>
            </a:extLst>
          </p:cNvPr>
          <p:cNvSpPr>
            <a:spLocks xmlns:a="http://schemas.openxmlformats.org/drawingml/2006/main" noGrp="1"/>
          </p:cNvSpPr>
          <p:nvPr/>
        </p:nvSpPr>
        <p:spPr>
          <a:xfrm xmlns:a="http://schemas.openxmlformats.org/drawingml/2006/main">
            <a:off x="8477250" y="3381375"/>
            <a:ext cx="3286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By May</a:t>
            </a:r>
          </a:p>
        </p:txBody>
      </p:sp>
      <p:sp>
        <p:nvSpPr>
          <p:cNvPr id="16" name="">
            <a:extLst xmlns:a="http://schemas.openxmlformats.org/drawingml/2006/main">
              <a:ext uri="{FF2B5EF4-FFF2-40B4-BE49-F238E27FC236}">
                <a16:creationId xmlns:a16="http://schemas.microsoft.com/office/drawing/2014/main" id="{4331D4A4-D768-4590-9BEC-7EAB65A29B32}"/>
              </a:ext>
            </a:extLst>
          </p:cNvPr>
          <p:cNvSpPr>
            <a:spLocks xmlns:a="http://schemas.openxmlformats.org/drawingml/2006/main" noGrp="1"/>
          </p:cNvSpPr>
          <p:nvPr/>
        </p:nvSpPr>
        <p:spPr>
          <a:xfrm xmlns:a="http://schemas.openxmlformats.org/drawingml/2006/main">
            <a:off x="8477250" y="3810000"/>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Evaluate and revise</a:t>
            </a:r>
          </a:p>
        </p:txBody>
      </p:sp>
      <p:sp>
        <p:nvSpPr>
          <p:cNvPr id="17" name="">
            <a:extLst xmlns:a="http://schemas.openxmlformats.org/drawingml/2006/main">
              <a:ext uri="{FF2B5EF4-FFF2-40B4-BE49-F238E27FC236}">
                <a16:creationId xmlns:a16="http://schemas.microsoft.com/office/drawing/2014/main" id="{9E71AE74-6757-4769-8228-9040DE8F6BEF}"/>
              </a:ext>
            </a:extLst>
          </p:cNvPr>
          <p:cNvSpPr>
            <a:spLocks xmlns:a="http://schemas.openxmlformats.org/drawingml/2006/main" noGrp="1"/>
          </p:cNvSpPr>
          <p:nvPr/>
        </p:nvSpPr>
        <p:spPr>
          <a:xfrm xmlns:a="http://schemas.openxmlformats.org/drawingml/2006/main">
            <a:off x="609600" y="482917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F57868-72B9-48C8-A821-0A41A0D31FB9}"/>
              </a:ext>
            </a:extLst>
          </p:cNvPr>
          <p:cNvSpPr>
            <a:spLocks xmlns:a="http://schemas.openxmlformats.org/drawingml/2006/main" noGrp="1"/>
          </p:cNvSpPr>
          <p:nvPr/>
        </p:nvSpPr>
        <p:spPr>
          <a:xfrm xmlns:a="http://schemas.openxmlformats.org/drawingml/2006/main">
            <a:off x="609600" y="5010150"/>
            <a:ext cx="109728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Planning and review</a:t>
            </a:r>
          </a:p>
        </p:txBody>
      </p:sp>
      <p:sp>
        <p:nvSpPr>
          <p:cNvPr id="19" name="">
            <a:extLst xmlns:a="http://schemas.openxmlformats.org/drawingml/2006/main">
              <a:ext uri="{FF2B5EF4-FFF2-40B4-BE49-F238E27FC236}">
                <a16:creationId xmlns:a16="http://schemas.microsoft.com/office/drawing/2014/main" id="{CC058CFD-B4DF-45D6-8D65-0AE7ED453667}"/>
              </a:ext>
            </a:extLst>
          </p:cNvPr>
          <p:cNvSpPr>
            <a:spLocks xmlns:a="http://schemas.openxmlformats.org/drawingml/2006/main" noGrp="1"/>
          </p:cNvSpPr>
          <p:nvPr/>
        </p:nvSpPr>
        <p:spPr>
          <a:xfrm xmlns:a="http://schemas.openxmlformats.org/drawingml/2006/main">
            <a:off x="609600" y="53340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Supervisor guidance: emphasize proposal and relevance; keep other sections concise.</a:t>
            </a:r>
          </a:p>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7 proposed next-increment tasks for YouTrack; later work stays at milestone level. Risks: scope, invalid rules and integration.</a:t>
            </a:r>
          </a:p>
        </p:txBody>
      </p:sp>
    </p:spTree>
    <p:extLst>
      <p:ext uri="{BB962C8B-B14F-4D97-AF65-F5344CB8AC3E}">
        <p14:creationId xmlns:p14="http://schemas.microsoft.com/office/powerpoint/2010/main" val="1084324772"/>
      </p:ext>
    </p:extLst>
  </p:cSld>
</p:sld>
</file>

<file path=ppt/slides/slide9.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814335-9872-454E-93F8-B3E42E3A0B45}"/>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CC2D21-A744-46F2-8E38-0EA5B026CD44}"/>
              </a:ext>
            </a:extLst>
          </p:cNvPr>
          <p:cNvSpPr>
            <a:spLocks xmlns:a="http://schemas.openxmlformats.org/drawingml/2006/main" noGrp="1"/>
          </p:cNvSpPr>
          <p:nvPr/>
        </p:nvSpPr>
        <p:spPr>
          <a:xfrm xmlns:a="http://schemas.openxmlformats.org/drawingml/2006/main">
            <a:off x="609600" y="819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925" b="1">
                <a:solidFill>
                  <a:srgbClr val="172C40"/>
                </a:solidFill>
                <a:latin typeface="DejaVu Sans"/>
                <a:ea typeface="DejaVu Sans"/>
                <a:cs typeface="DejaVu Sans"/>
              </a:defRPr>
            </a:defPPr>
            <a:lvl1pPr>
              <a:buNone/>
              <a:defRPr sz="2925" b="1">
                <a:solidFill>
                  <a:srgbClr val="172C40"/>
                </a:solidFill>
                <a:latin typeface="DejaVu Sans"/>
                <a:ea typeface="DejaVu Sans"/>
                <a:cs typeface="DejaVu Sans"/>
              </a:defRPr>
            </a:lvl1pPr>
            <a:lvl2pPr>
              <a:buNone/>
              <a:defRPr sz="2925" b="1">
                <a:solidFill>
                  <a:srgbClr val="172C40"/>
                </a:solidFill>
                <a:latin typeface="DejaVu Sans"/>
                <a:ea typeface="DejaVu Sans"/>
                <a:cs typeface="DejaVu Sans"/>
              </a:defRPr>
            </a:lvl2pPr>
            <a:lvl3pPr>
              <a:buNone/>
              <a:defRPr sz="2925" b="1">
                <a:solidFill>
                  <a:srgbClr val="172C40"/>
                </a:solidFill>
                <a:latin typeface="DejaVu Sans"/>
                <a:ea typeface="DejaVu Sans"/>
                <a:cs typeface="DejaVu Sans"/>
              </a:defRPr>
            </a:lvl3pPr>
            <a:lvl4pPr>
              <a:buNone/>
              <a:defRPr sz="2925" b="1">
                <a:solidFill>
                  <a:srgbClr val="172C40"/>
                </a:solidFill>
                <a:latin typeface="DejaVu Sans"/>
                <a:ea typeface="DejaVu Sans"/>
                <a:cs typeface="DejaVu Sans"/>
              </a:defRPr>
            </a:lvl4pPr>
            <a:lvl5pPr>
              <a:buNone/>
              <a:defRPr sz="2925" b="1">
                <a:solidFill>
                  <a:srgbClr val="172C40"/>
                </a:solidFill>
                <a:latin typeface="DejaVu Sans"/>
                <a:ea typeface="DejaVu Sans"/>
                <a:cs typeface="DejaVu Sans"/>
              </a:defRPr>
            </a:lvl5pPr>
            <a:lvl6pPr>
              <a:buNone/>
              <a:defRPr sz="2925" b="1">
                <a:solidFill>
                  <a:srgbClr val="172C40"/>
                </a:solidFill>
                <a:latin typeface="DejaVu Sans"/>
                <a:ea typeface="DejaVu Sans"/>
                <a:cs typeface="DejaVu Sans"/>
              </a:defRPr>
            </a:lvl6pPr>
            <a:lvl7pPr>
              <a:buNone/>
              <a:defRPr sz="2925" b="1">
                <a:solidFill>
                  <a:srgbClr val="172C40"/>
                </a:solidFill>
                <a:latin typeface="DejaVu Sans"/>
                <a:ea typeface="DejaVu Sans"/>
                <a:cs typeface="DejaVu Sans"/>
              </a:defRPr>
            </a:lvl7pPr>
            <a:lvl8pPr>
              <a:buNone/>
              <a:defRPr sz="2925" b="1">
                <a:solidFill>
                  <a:srgbClr val="172C40"/>
                </a:solidFill>
                <a:latin typeface="DejaVu Sans"/>
                <a:ea typeface="DejaVu Sans"/>
                <a:cs typeface="DejaVu Sans"/>
              </a:defRPr>
            </a:lvl8pPr>
            <a:lvl9pPr>
              <a:buNone/>
              <a:defRPr sz="2925" b="1">
                <a:solidFill>
                  <a:srgbClr val="172C40"/>
                </a:solidFill>
                <a:latin typeface="DejaVu Sans"/>
                <a:ea typeface="DejaVu Sans"/>
                <a:cs typeface="DejaVu Sans"/>
              </a:defRPr>
            </a:lvl9pPr>
          </a:lstStyle>
          <a:p xmlns:a="http://schemas.openxmlformats.org/drawingml/2006/main">
            <a:pPr>
              <a:buNone/>
              <a:defRPr sz="2925" b="1">
                <a:solidFill>
                  <a:srgbClr val="172C40"/>
                </a:solidFill>
                <a:latin typeface="DejaVu Sans"/>
                <a:ea typeface="DejaVu Sans"/>
                <a:cs typeface="DejaVu Sans"/>
              </a:defRPr>
            </a:pPr>
            <a:r>
              <a:rPr sz="2925" b="1">
                <a:solidFill>
                  <a:srgbClr val="172C40"/>
                </a:solidFill>
                <a:latin typeface="DejaVu Sans"/>
                <a:ea typeface="DejaVu Sans"/>
                <a:cs typeface="DejaVu Sans"/>
              </a:rPr>
              <a:t>Backup: proposed system context</a:t>
            </a:r>
          </a:p>
        </p:txBody>
      </p:sp>
      <p:sp>
        <p:nvSpPr>
          <p:cNvPr id="3" name="">
            <a:extLst xmlns:a="http://schemas.openxmlformats.org/drawingml/2006/main">
              <a:ext uri="{FF2B5EF4-FFF2-40B4-BE49-F238E27FC236}">
                <a16:creationId xmlns:a16="http://schemas.microsoft.com/office/drawing/2014/main" id="{5D48371F-21A3-44E4-A8EF-62630191072A}"/>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60A6556-F97B-4F52-BD2B-69B1F643A8DC}"/>
              </a:ext>
            </a:extLst>
          </p:cNvPr>
          <p:cNvSpPr>
            <a:spLocks xmlns:a="http://schemas.openxmlformats.org/drawingml/2006/main" noGrp="1"/>
          </p:cNvSpPr>
          <p:nvPr/>
        </p:nvSpPr>
        <p:spPr>
          <a:xfrm xmlns:a="http://schemas.openxmlformats.org/drawingml/2006/main">
            <a:off x="609600" y="6238875"/>
            <a:ext cx="1028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Diagram export · editable source in diagrams/system-context.mmd</a:t>
            </a:r>
          </a:p>
        </p:txBody>
      </p:sp>
      <p:sp>
        <p:nvSpPr>
          <p:cNvPr id="5" name="">
            <a:extLst xmlns:a="http://schemas.openxmlformats.org/drawingml/2006/main">
              <a:ext uri="{FF2B5EF4-FFF2-40B4-BE49-F238E27FC236}">
                <a16:creationId xmlns:a16="http://schemas.microsoft.com/office/drawing/2014/main" id="{B8FB8AD8-591E-4786-9789-E10796C54DE1}"/>
              </a:ext>
            </a:extLst>
          </p:cNvPr>
          <p:cNvSpPr>
            <a:spLocks xmlns:a="http://schemas.openxmlformats.org/drawingml/2006/main" noGrp="1"/>
          </p:cNvSpPr>
          <p:nvPr/>
        </p:nvSpPr>
        <p:spPr>
          <a:xfrm xmlns:a="http://schemas.openxmlformats.org/drawingml/2006/main">
            <a:off x="11125200" y="6219825"/>
            <a:ext cx="4572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2E6478"/>
                </a:solidFill>
                <a:latin typeface="DejaVu Sans"/>
                <a:ea typeface="DejaVu Sans"/>
                <a:cs typeface="DejaVu Sans"/>
              </a:defRPr>
            </a:defPPr>
            <a:lvl1pPr>
              <a:buNone/>
              <a:defRPr sz="1275" b="1">
                <a:solidFill>
                  <a:srgbClr val="2E6478"/>
                </a:solidFill>
                <a:latin typeface="DejaVu Sans"/>
                <a:ea typeface="DejaVu Sans"/>
                <a:cs typeface="DejaVu Sans"/>
              </a:defRPr>
            </a:lvl1pPr>
            <a:lvl2pPr>
              <a:buNone/>
              <a:defRPr sz="1275" b="1">
                <a:solidFill>
                  <a:srgbClr val="2E6478"/>
                </a:solidFill>
                <a:latin typeface="DejaVu Sans"/>
                <a:ea typeface="DejaVu Sans"/>
                <a:cs typeface="DejaVu Sans"/>
              </a:defRPr>
            </a:lvl2pPr>
            <a:lvl3pPr>
              <a:buNone/>
              <a:defRPr sz="1275" b="1">
                <a:solidFill>
                  <a:srgbClr val="2E6478"/>
                </a:solidFill>
                <a:latin typeface="DejaVu Sans"/>
                <a:ea typeface="DejaVu Sans"/>
                <a:cs typeface="DejaVu Sans"/>
              </a:defRPr>
            </a:lvl3pPr>
            <a:lvl4pPr>
              <a:buNone/>
              <a:defRPr sz="1275" b="1">
                <a:solidFill>
                  <a:srgbClr val="2E6478"/>
                </a:solidFill>
                <a:latin typeface="DejaVu Sans"/>
                <a:ea typeface="DejaVu Sans"/>
                <a:cs typeface="DejaVu Sans"/>
              </a:defRPr>
            </a:lvl4pPr>
            <a:lvl5pPr>
              <a:buNone/>
              <a:defRPr sz="1275" b="1">
                <a:solidFill>
                  <a:srgbClr val="2E6478"/>
                </a:solidFill>
                <a:latin typeface="DejaVu Sans"/>
                <a:ea typeface="DejaVu Sans"/>
                <a:cs typeface="DejaVu Sans"/>
              </a:defRPr>
            </a:lvl5pPr>
            <a:lvl6pPr>
              <a:buNone/>
              <a:defRPr sz="1275" b="1">
                <a:solidFill>
                  <a:srgbClr val="2E6478"/>
                </a:solidFill>
                <a:latin typeface="DejaVu Sans"/>
                <a:ea typeface="DejaVu Sans"/>
                <a:cs typeface="DejaVu Sans"/>
              </a:defRPr>
            </a:lvl6pPr>
            <a:lvl7pPr>
              <a:buNone/>
              <a:defRPr sz="1275" b="1">
                <a:solidFill>
                  <a:srgbClr val="2E6478"/>
                </a:solidFill>
                <a:latin typeface="DejaVu Sans"/>
                <a:ea typeface="DejaVu Sans"/>
                <a:cs typeface="DejaVu Sans"/>
              </a:defRPr>
            </a:lvl7pPr>
            <a:lvl8pPr>
              <a:buNone/>
              <a:defRPr sz="1275" b="1">
                <a:solidFill>
                  <a:srgbClr val="2E6478"/>
                </a:solidFill>
                <a:latin typeface="DejaVu Sans"/>
                <a:ea typeface="DejaVu Sans"/>
                <a:cs typeface="DejaVu Sans"/>
              </a:defRPr>
            </a:lvl8pPr>
            <a:lvl9pPr>
              <a:buNone/>
              <a:defRPr sz="1275" b="1">
                <a:solidFill>
                  <a:srgbClr val="2E6478"/>
                </a:solidFill>
                <a:latin typeface="DejaVu Sans"/>
                <a:ea typeface="DejaVu Sans"/>
                <a:cs typeface="DejaVu Sans"/>
              </a:defRPr>
            </a:lvl9pPr>
          </a:lstStyle>
          <a:p xmlns:a="http://schemas.openxmlformats.org/drawingml/2006/main">
            <a:pPr>
              <a:buNone/>
              <a:defRPr sz="1275" b="1">
                <a:solidFill>
                  <a:srgbClr val="2E6478"/>
                </a:solidFill>
                <a:latin typeface="DejaVu Sans"/>
                <a:ea typeface="DejaVu Sans"/>
                <a:cs typeface="DejaVu Sans"/>
              </a:defRPr>
            </a:pPr>
            <a:r>
              <a:rPr sz="1275" b="1">
                <a:solidFill>
                  <a:srgbClr val="2E6478"/>
                </a:solidFill>
                <a:latin typeface="DejaVu Sans"/>
                <a:ea typeface="DejaVu Sans"/>
                <a:cs typeface="DejaVu Sans"/>
              </a:rPr>
              <a:t>09</a:t>
            </a:r>
          </a:p>
        </p:txBody>
      </p:sp>
      <p:pic>
        <p:nvPicPr>
          <p:cNvPr id="6" name="">
            <a:extLst xmlns:a="http://schemas.openxmlformats.org/drawingml/2006/main">
              <a:ext uri="{FF2B5EF4-FFF2-40B4-BE49-F238E27FC236}">
                <a16:creationId xmlns:a16="http://schemas.microsoft.com/office/drawing/2014/main" id="{97B71FDC-48EB-4AEB-A947-7790B960F3DC}"/>
              </a:ext>
            </a:extLst>
          </p:cNvPr>
          <p:cNvPicPr>
            <a:picLocks xmlns:a="http://schemas.openxmlformats.org/drawingml/2006/main" noChangeAspect="1"/>
          </p:cNvPicPr>
          <p:nvPr/>
        </p:nvPicPr>
        <p:blipFill>
          <a:blip xmlns:r="http://schemas.openxmlformats.org/officeDocument/2006/relationships" xmlns:a="http://schemas.openxmlformats.org/drawingml/2006/main" r:embed="R9817882336ac4117"/>
          <a:stretch xmlns:a="http://schemas.openxmlformats.org/drawingml/2006/main"/>
        </p:blipFill>
        <p:spPr>
          <a:xfrm xmlns:a="http://schemas.openxmlformats.org/drawingml/2006/main">
            <a:off x="609600" y="1884045"/>
            <a:ext cx="10972800" cy="3566160"/>
          </a:xfrm>
          <a:prstGeom xmlns:a="http://schemas.openxmlformats.org/drawingml/2006/main" prst="rect">
            <a:avLst/>
          </a:prstGeom>
        </p:spPr>
      </p:pic>
    </p:spTree>
    <p:extLst>
      <p:ext uri="{BB962C8B-B14F-4D97-AF65-F5344CB8AC3E}">
        <p14:creationId xmlns:p14="http://schemas.microsoft.com/office/powerpoint/2010/main" val="806981804"/>
      </p:ext>
    </p:extLst>
  </p:cSld>
</p:sld>
</file>

<file path=ppt/slides/slide10.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8BD362C-D52F-4DF6-A652-AD6AB4AC8E38}"/>
              </a:ext>
            </a:extLst>
          </p:cNvPr>
          <p:cNvPicPr>
            <a:picLocks xmlns:a="http://schemas.openxmlformats.org/drawingml/2006/main" noChangeAspect="1"/>
          </p:cNvPicPr>
          <p:nvPr/>
        </p:nvPicPr>
        <p:blipFill>
          <a:blip xmlns:r="http://schemas.openxmlformats.org/officeDocument/2006/relationships" xmlns:a="http://schemas.openxmlformats.org/drawingml/2006/main" r:embed="R072fe135f198453a"/>
          <a:stretch xmlns:a="http://schemas.openxmlformats.org/drawingml/2006/main"/>
        </p:blipFill>
        <p:spPr>
          <a:xfrm xmlns:a="http://schemas.openxmlformats.org/drawingml/2006/main">
            <a:off x="2981325" y="96298"/>
            <a:ext cx="6229350" cy="6665405"/>
          </a:xfrm>
          <a:prstGeom xmlns:a="http://schemas.openxmlformats.org/drawingml/2006/main" prst="rect">
            <a:avLst/>
          </a:prstGeom>
        </p:spPr>
      </p:pic>
    </p:spTree>
    <p:extLst>
      <p:ext uri="{BB962C8B-B14F-4D97-AF65-F5344CB8AC3E}">
        <p14:creationId xmlns:p14="http://schemas.microsoft.com/office/powerpoint/2010/main" val="7230499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2026-10-23T19:36:24.2150000Z</dcterms:created>
  <dcterms:modified xsi:type="dcterms:W3CDTF">2026-10-23T19:36:24.2150000Z</dcterms:modified>
</coreProperties>
</file>